
<file path=[Content_Types].xml><?xml version="1.0" encoding="utf-8"?>
<Types xmlns="http://schemas.openxmlformats.org/package/2006/content-types">
  <Default Extension="jpeg" ContentType="image/jpeg"/>
  <Default Extension="jpg" ContentType="image/jpeg"/>
  <Default Extension="jpg!d"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9" r:id="rId1"/>
    <p:sldMasterId id="2147483871" r:id="rId2"/>
  </p:sldMasterIdLst>
  <p:notesMasterIdLst>
    <p:notesMasterId r:id="rId15"/>
  </p:notesMasterIdLst>
  <p:sldIdLst>
    <p:sldId id="256" r:id="rId3"/>
    <p:sldId id="267" r:id="rId4"/>
    <p:sldId id="268" r:id="rId5"/>
    <p:sldId id="292" r:id="rId6"/>
    <p:sldId id="282" r:id="rId7"/>
    <p:sldId id="291" r:id="rId8"/>
    <p:sldId id="275" r:id="rId9"/>
    <p:sldId id="293" r:id="rId10"/>
    <p:sldId id="278" r:id="rId11"/>
    <p:sldId id="290" r:id="rId12"/>
    <p:sldId id="264" r:id="rId13"/>
    <p:sldId id="27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0D99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Açık Stil 1 - Vurgu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439"/>
    <p:restoredTop sz="96283" autoAdjust="0"/>
  </p:normalViewPr>
  <p:slideViewPr>
    <p:cSldViewPr snapToGrid="0" snapToObjects="1">
      <p:cViewPr varScale="1">
        <p:scale>
          <a:sx n="111" d="100"/>
          <a:sy n="111" d="100"/>
        </p:scale>
        <p:origin x="240" y="5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241F36-E8CB-47CB-B5E8-06E78AF407A1}" type="doc">
      <dgm:prSet loTypeId="urn:microsoft.com/office/officeart/2005/8/layout/vList2" loCatId="list" qsTypeId="urn:microsoft.com/office/officeart/2005/8/quickstyle/simple1" qsCatId="simple" csTypeId="urn:microsoft.com/office/officeart/2005/8/colors/accent0_1" csCatId="mainScheme" phldr="1"/>
      <dgm:spPr/>
      <dgm:t>
        <a:bodyPr/>
        <a:lstStyle/>
        <a:p>
          <a:endParaRPr lang="en-US"/>
        </a:p>
      </dgm:t>
    </dgm:pt>
    <dgm:pt modelId="{20366DF5-1530-4071-B9B7-21DF0EFF7984}">
      <dgm:prSet/>
      <dgm:spPr/>
      <dgm:t>
        <a:bodyPr/>
        <a:lstStyle/>
        <a:p>
          <a:pPr algn="l"/>
          <a:r>
            <a:rPr lang="tr-TR" dirty="0">
              <a:latin typeface="Times New Roman" panose="02020603050405020304" pitchFamily="18" charset="0"/>
              <a:cs typeface="Times New Roman" panose="02020603050405020304" pitchFamily="18" charset="0"/>
            </a:rPr>
            <a:t>1) Requirements</a:t>
          </a:r>
          <a:endParaRPr lang="en-US" dirty="0">
            <a:latin typeface="Times New Roman" panose="02020603050405020304" pitchFamily="18" charset="0"/>
            <a:cs typeface="Times New Roman" panose="02020603050405020304" pitchFamily="18" charset="0"/>
          </a:endParaRPr>
        </a:p>
      </dgm:t>
    </dgm:pt>
    <dgm:pt modelId="{466B61C7-74DB-4813-B4AD-7F1AE5337211}" type="parTrans" cxnId="{4FD1707F-C498-4ED8-9EDB-869BD040765D}">
      <dgm:prSet/>
      <dgm:spPr/>
      <dgm:t>
        <a:bodyPr/>
        <a:lstStyle/>
        <a:p>
          <a:pPr algn="l"/>
          <a:endParaRPr lang="en-US"/>
        </a:p>
      </dgm:t>
    </dgm:pt>
    <dgm:pt modelId="{00517CE7-AD46-4B4C-A00C-6B68B561BE11}" type="sibTrans" cxnId="{4FD1707F-C498-4ED8-9EDB-869BD040765D}">
      <dgm:prSet/>
      <dgm:spPr/>
      <dgm:t>
        <a:bodyPr/>
        <a:lstStyle/>
        <a:p>
          <a:pPr algn="l"/>
          <a:endParaRPr lang="en-US"/>
        </a:p>
      </dgm:t>
    </dgm:pt>
    <dgm:pt modelId="{B4E7A4FF-30BD-46AD-AD6E-19144C640197}">
      <dgm:prSet/>
      <dgm:spPr/>
      <dgm:t>
        <a:bodyPr/>
        <a:lstStyle/>
        <a:p>
          <a:pPr algn="l"/>
          <a:r>
            <a:rPr lang="tr-TR" dirty="0">
              <a:latin typeface="Times New Roman" panose="02020603050405020304" pitchFamily="18" charset="0"/>
              <a:cs typeface="Times New Roman" panose="02020603050405020304" pitchFamily="18" charset="0"/>
            </a:rPr>
            <a:t>2) Market &amp; Competitor Study</a:t>
          </a:r>
          <a:endParaRPr lang="en-US" dirty="0">
            <a:latin typeface="Times New Roman" panose="02020603050405020304" pitchFamily="18" charset="0"/>
            <a:cs typeface="Times New Roman" panose="02020603050405020304" pitchFamily="18" charset="0"/>
          </a:endParaRPr>
        </a:p>
      </dgm:t>
    </dgm:pt>
    <dgm:pt modelId="{492F1B44-A894-42FE-84D3-15E67C1D92A7}" type="parTrans" cxnId="{00AE532B-7BFE-4D62-B8BC-F269D369C87D}">
      <dgm:prSet/>
      <dgm:spPr/>
      <dgm:t>
        <a:bodyPr/>
        <a:lstStyle/>
        <a:p>
          <a:pPr algn="l"/>
          <a:endParaRPr lang="en-US"/>
        </a:p>
      </dgm:t>
    </dgm:pt>
    <dgm:pt modelId="{F3755EA8-83A3-4152-B640-09D501E487A6}" type="sibTrans" cxnId="{00AE532B-7BFE-4D62-B8BC-F269D369C87D}">
      <dgm:prSet/>
      <dgm:spPr/>
      <dgm:t>
        <a:bodyPr/>
        <a:lstStyle/>
        <a:p>
          <a:pPr algn="l"/>
          <a:endParaRPr lang="en-US"/>
        </a:p>
      </dgm:t>
    </dgm:pt>
    <dgm:pt modelId="{C7C3EE69-35C5-4C4F-98B4-15A1658C0302}">
      <dgm:prSet/>
      <dgm:spPr/>
      <dgm:t>
        <a:bodyPr/>
        <a:lstStyle/>
        <a:p>
          <a:pPr algn="l"/>
          <a:r>
            <a:rPr lang="en-US" dirty="0">
              <a:latin typeface="Times New Roman" panose="02020603050405020304" pitchFamily="18" charset="0"/>
              <a:cs typeface="Times New Roman" panose="02020603050405020304" pitchFamily="18" charset="0"/>
            </a:rPr>
            <a:t>3) Overall Specifications</a:t>
          </a:r>
        </a:p>
      </dgm:t>
    </dgm:pt>
    <dgm:pt modelId="{ADEEFD1A-691A-4BF1-8C4B-3F3CDB0D7E8F}" type="parTrans" cxnId="{9E17CC82-25D4-4060-9AF9-D1E5D0D7CED2}">
      <dgm:prSet/>
      <dgm:spPr/>
      <dgm:t>
        <a:bodyPr/>
        <a:lstStyle/>
        <a:p>
          <a:pPr algn="l"/>
          <a:endParaRPr lang="en-US"/>
        </a:p>
      </dgm:t>
    </dgm:pt>
    <dgm:pt modelId="{0C916C67-B1CC-467F-ABC1-C59852230737}" type="sibTrans" cxnId="{9E17CC82-25D4-4060-9AF9-D1E5D0D7CED2}">
      <dgm:prSet/>
      <dgm:spPr/>
      <dgm:t>
        <a:bodyPr/>
        <a:lstStyle/>
        <a:p>
          <a:pPr algn="l"/>
          <a:endParaRPr lang="en-US"/>
        </a:p>
      </dgm:t>
    </dgm:pt>
    <dgm:pt modelId="{57553AFA-A8AF-4767-90EB-1C47D1DE577A}">
      <dgm:prSet/>
      <dgm:spPr/>
      <dgm:t>
        <a:bodyPr/>
        <a:lstStyle/>
        <a:p>
          <a:pPr algn="l"/>
          <a:r>
            <a:rPr lang="tr-TR" dirty="0">
              <a:latin typeface="Times New Roman" panose="02020603050405020304" pitchFamily="18" charset="0"/>
              <a:cs typeface="Times New Roman" panose="02020603050405020304" pitchFamily="18" charset="0"/>
            </a:rPr>
            <a:t>4) Engineering Drawings</a:t>
          </a:r>
          <a:endParaRPr lang="en-US" dirty="0">
            <a:latin typeface="Times New Roman" panose="02020603050405020304" pitchFamily="18" charset="0"/>
            <a:cs typeface="Times New Roman" panose="02020603050405020304" pitchFamily="18" charset="0"/>
          </a:endParaRPr>
        </a:p>
      </dgm:t>
    </dgm:pt>
    <dgm:pt modelId="{B83C0292-2D93-4617-A8F3-0F90E2B15475}" type="sibTrans" cxnId="{7FFAB34A-24E3-41AA-82CB-A3D4ED4A8C7C}">
      <dgm:prSet/>
      <dgm:spPr/>
      <dgm:t>
        <a:bodyPr/>
        <a:lstStyle/>
        <a:p>
          <a:pPr algn="l"/>
          <a:endParaRPr lang="en-US"/>
        </a:p>
      </dgm:t>
    </dgm:pt>
    <dgm:pt modelId="{EA5E02F3-E790-434E-8D63-49B2DB0CCDA7}" type="parTrans" cxnId="{7FFAB34A-24E3-41AA-82CB-A3D4ED4A8C7C}">
      <dgm:prSet/>
      <dgm:spPr/>
      <dgm:t>
        <a:bodyPr/>
        <a:lstStyle/>
        <a:p>
          <a:pPr algn="l"/>
          <a:endParaRPr lang="en-US"/>
        </a:p>
      </dgm:t>
    </dgm:pt>
    <dgm:pt modelId="{F2DEA521-CCD9-1F4A-A60E-EF57FEA584F9}">
      <dgm:prSet/>
      <dgm:spPr/>
      <dgm:t>
        <a:bodyPr/>
        <a:lstStyle/>
        <a:p>
          <a:r>
            <a:rPr lang="en-GB" dirty="0">
              <a:latin typeface="Times New Roman" panose="02020603050405020304" pitchFamily="18" charset="0"/>
              <a:cs typeface="Times New Roman" panose="02020603050405020304" pitchFamily="18" charset="0"/>
            </a:rPr>
            <a:t>5) References</a:t>
          </a:r>
        </a:p>
      </dgm:t>
    </dgm:pt>
    <dgm:pt modelId="{1B4B614C-7B48-ED4D-B1D3-6AB52A70056D}" type="parTrans" cxnId="{797EFA2F-D56C-5B4F-9BBC-9D4F35358465}">
      <dgm:prSet/>
      <dgm:spPr/>
      <dgm:t>
        <a:bodyPr/>
        <a:lstStyle/>
        <a:p>
          <a:endParaRPr lang="en-GB"/>
        </a:p>
      </dgm:t>
    </dgm:pt>
    <dgm:pt modelId="{F0ECD59A-47A0-4443-8ACB-E9FD68CADD2A}" type="sibTrans" cxnId="{797EFA2F-D56C-5B4F-9BBC-9D4F35358465}">
      <dgm:prSet/>
      <dgm:spPr/>
      <dgm:t>
        <a:bodyPr/>
        <a:lstStyle/>
        <a:p>
          <a:endParaRPr lang="en-GB"/>
        </a:p>
      </dgm:t>
    </dgm:pt>
    <dgm:pt modelId="{C205A0F8-B914-445B-A2C8-141A0F748661}" type="pres">
      <dgm:prSet presAssocID="{A1241F36-E8CB-47CB-B5E8-06E78AF407A1}" presName="linear" presStyleCnt="0">
        <dgm:presLayoutVars>
          <dgm:animLvl val="lvl"/>
          <dgm:resizeHandles val="exact"/>
        </dgm:presLayoutVars>
      </dgm:prSet>
      <dgm:spPr/>
    </dgm:pt>
    <dgm:pt modelId="{FD21C661-6AC1-4BDA-A224-B2499ED5DCA8}" type="pres">
      <dgm:prSet presAssocID="{20366DF5-1530-4071-B9B7-21DF0EFF7984}" presName="parentText" presStyleLbl="node1" presStyleIdx="0" presStyleCnt="5" custLinFactNeighborX="1579" custLinFactNeighborY="22555">
        <dgm:presLayoutVars>
          <dgm:chMax val="0"/>
          <dgm:bulletEnabled val="1"/>
        </dgm:presLayoutVars>
      </dgm:prSet>
      <dgm:spPr/>
    </dgm:pt>
    <dgm:pt modelId="{AE8B88DB-3554-4EF5-9209-4277BFCE08D0}" type="pres">
      <dgm:prSet presAssocID="{00517CE7-AD46-4B4C-A00C-6B68B561BE11}" presName="spacer" presStyleCnt="0"/>
      <dgm:spPr/>
    </dgm:pt>
    <dgm:pt modelId="{20FDB3E8-23C5-4722-BD31-CC25FFC1DDF3}" type="pres">
      <dgm:prSet presAssocID="{B4E7A4FF-30BD-46AD-AD6E-19144C640197}" presName="parentText" presStyleLbl="node1" presStyleIdx="1" presStyleCnt="5">
        <dgm:presLayoutVars>
          <dgm:chMax val="0"/>
          <dgm:bulletEnabled val="1"/>
        </dgm:presLayoutVars>
      </dgm:prSet>
      <dgm:spPr/>
    </dgm:pt>
    <dgm:pt modelId="{83468092-CCA7-418B-8371-C27B62ED8ACD}" type="pres">
      <dgm:prSet presAssocID="{F3755EA8-83A3-4152-B640-09D501E487A6}" presName="spacer" presStyleCnt="0"/>
      <dgm:spPr/>
    </dgm:pt>
    <dgm:pt modelId="{20F057F8-1308-4DA6-BD80-D9F8A547BA67}" type="pres">
      <dgm:prSet presAssocID="{57553AFA-A8AF-4767-90EB-1C47D1DE577A}" presName="parentText" presStyleLbl="node1" presStyleIdx="2" presStyleCnt="5" custLinFactY="90842" custLinFactNeighborX="-900" custLinFactNeighborY="100000">
        <dgm:presLayoutVars>
          <dgm:chMax val="0"/>
          <dgm:bulletEnabled val="1"/>
        </dgm:presLayoutVars>
      </dgm:prSet>
      <dgm:spPr/>
    </dgm:pt>
    <dgm:pt modelId="{14EB81AD-2718-4AE6-9B7F-CF281669ECC3}" type="pres">
      <dgm:prSet presAssocID="{B83C0292-2D93-4617-A8F3-0F90E2B15475}" presName="spacer" presStyleCnt="0"/>
      <dgm:spPr/>
    </dgm:pt>
    <dgm:pt modelId="{C0960D51-F357-44C3-972C-F78D83A042AA}" type="pres">
      <dgm:prSet presAssocID="{C7C3EE69-35C5-4C4F-98B4-15A1658C0302}" presName="parentText" presStyleLbl="node1" presStyleIdx="3" presStyleCnt="5" custLinFactY="-97602" custLinFactNeighborX="900" custLinFactNeighborY="-100000">
        <dgm:presLayoutVars>
          <dgm:chMax val="0"/>
          <dgm:bulletEnabled val="1"/>
        </dgm:presLayoutVars>
      </dgm:prSet>
      <dgm:spPr/>
    </dgm:pt>
    <dgm:pt modelId="{8F7043C5-7625-7044-BFE0-DE3D6BE05CE3}" type="pres">
      <dgm:prSet presAssocID="{0C916C67-B1CC-467F-ABC1-C59852230737}" presName="spacer" presStyleCnt="0"/>
      <dgm:spPr/>
    </dgm:pt>
    <dgm:pt modelId="{CA402D5F-F3FD-5F40-8097-816B0D5C7352}" type="pres">
      <dgm:prSet presAssocID="{F2DEA521-CCD9-1F4A-A60E-EF57FEA584F9}" presName="parentText" presStyleLbl="node1" presStyleIdx="4" presStyleCnt="5" custLinFactNeighborX="-249" custLinFactNeighborY="4835">
        <dgm:presLayoutVars>
          <dgm:chMax val="0"/>
          <dgm:bulletEnabled val="1"/>
        </dgm:presLayoutVars>
      </dgm:prSet>
      <dgm:spPr/>
    </dgm:pt>
  </dgm:ptLst>
  <dgm:cxnLst>
    <dgm:cxn modelId="{00AE532B-7BFE-4D62-B8BC-F269D369C87D}" srcId="{A1241F36-E8CB-47CB-B5E8-06E78AF407A1}" destId="{B4E7A4FF-30BD-46AD-AD6E-19144C640197}" srcOrd="1" destOrd="0" parTransId="{492F1B44-A894-42FE-84D3-15E67C1D92A7}" sibTransId="{F3755EA8-83A3-4152-B640-09D501E487A6}"/>
    <dgm:cxn modelId="{797EFA2F-D56C-5B4F-9BBC-9D4F35358465}" srcId="{A1241F36-E8CB-47CB-B5E8-06E78AF407A1}" destId="{F2DEA521-CCD9-1F4A-A60E-EF57FEA584F9}" srcOrd="4" destOrd="0" parTransId="{1B4B614C-7B48-ED4D-B1D3-6AB52A70056D}" sibTransId="{F0ECD59A-47A0-4443-8ACB-E9FD68CADD2A}"/>
    <dgm:cxn modelId="{7FFAB34A-24E3-41AA-82CB-A3D4ED4A8C7C}" srcId="{A1241F36-E8CB-47CB-B5E8-06E78AF407A1}" destId="{57553AFA-A8AF-4767-90EB-1C47D1DE577A}" srcOrd="2" destOrd="0" parTransId="{EA5E02F3-E790-434E-8D63-49B2DB0CCDA7}" sibTransId="{B83C0292-2D93-4617-A8F3-0F90E2B15475}"/>
    <dgm:cxn modelId="{B61FC44C-CF9B-4CDC-AD22-A8F93DBABABD}" type="presOf" srcId="{B4E7A4FF-30BD-46AD-AD6E-19144C640197}" destId="{20FDB3E8-23C5-4722-BD31-CC25FFC1DDF3}" srcOrd="0" destOrd="0" presId="urn:microsoft.com/office/officeart/2005/8/layout/vList2"/>
    <dgm:cxn modelId="{F4E0B052-6035-47CC-B2B8-2653101C001E}" type="presOf" srcId="{57553AFA-A8AF-4767-90EB-1C47D1DE577A}" destId="{20F057F8-1308-4DA6-BD80-D9F8A547BA67}" srcOrd="0" destOrd="0" presId="urn:microsoft.com/office/officeart/2005/8/layout/vList2"/>
    <dgm:cxn modelId="{4FD1707F-C498-4ED8-9EDB-869BD040765D}" srcId="{A1241F36-E8CB-47CB-B5E8-06E78AF407A1}" destId="{20366DF5-1530-4071-B9B7-21DF0EFF7984}" srcOrd="0" destOrd="0" parTransId="{466B61C7-74DB-4813-B4AD-7F1AE5337211}" sibTransId="{00517CE7-AD46-4B4C-A00C-6B68B561BE11}"/>
    <dgm:cxn modelId="{9E17CC82-25D4-4060-9AF9-D1E5D0D7CED2}" srcId="{A1241F36-E8CB-47CB-B5E8-06E78AF407A1}" destId="{C7C3EE69-35C5-4C4F-98B4-15A1658C0302}" srcOrd="3" destOrd="0" parTransId="{ADEEFD1A-691A-4BF1-8C4B-3F3CDB0D7E8F}" sibTransId="{0C916C67-B1CC-467F-ABC1-C59852230737}"/>
    <dgm:cxn modelId="{5F2F11AA-B2A3-4937-84F6-9B8FAB48F42B}" type="presOf" srcId="{C7C3EE69-35C5-4C4F-98B4-15A1658C0302}" destId="{C0960D51-F357-44C3-972C-F78D83A042AA}" srcOrd="0" destOrd="0" presId="urn:microsoft.com/office/officeart/2005/8/layout/vList2"/>
    <dgm:cxn modelId="{603B80B2-3924-7E4D-AA99-8FA823715D54}" type="presOf" srcId="{F2DEA521-CCD9-1F4A-A60E-EF57FEA584F9}" destId="{CA402D5F-F3FD-5F40-8097-816B0D5C7352}" srcOrd="0" destOrd="0" presId="urn:microsoft.com/office/officeart/2005/8/layout/vList2"/>
    <dgm:cxn modelId="{15C20BB7-BC5C-4444-94DD-F2BBCC1E773C}" type="presOf" srcId="{A1241F36-E8CB-47CB-B5E8-06E78AF407A1}" destId="{C205A0F8-B914-445B-A2C8-141A0F748661}" srcOrd="0" destOrd="0" presId="urn:microsoft.com/office/officeart/2005/8/layout/vList2"/>
    <dgm:cxn modelId="{35FDE3E4-CCA6-4C6D-8C09-93F070803665}" type="presOf" srcId="{20366DF5-1530-4071-B9B7-21DF0EFF7984}" destId="{FD21C661-6AC1-4BDA-A224-B2499ED5DCA8}" srcOrd="0" destOrd="0" presId="urn:microsoft.com/office/officeart/2005/8/layout/vList2"/>
    <dgm:cxn modelId="{716043D3-44A2-4C70-BBEC-FDFAFAE2DF4A}" type="presParOf" srcId="{C205A0F8-B914-445B-A2C8-141A0F748661}" destId="{FD21C661-6AC1-4BDA-A224-B2499ED5DCA8}" srcOrd="0" destOrd="0" presId="urn:microsoft.com/office/officeart/2005/8/layout/vList2"/>
    <dgm:cxn modelId="{8FEF8931-CA22-47BB-9D94-45280090A0C1}" type="presParOf" srcId="{C205A0F8-B914-445B-A2C8-141A0F748661}" destId="{AE8B88DB-3554-4EF5-9209-4277BFCE08D0}" srcOrd="1" destOrd="0" presId="urn:microsoft.com/office/officeart/2005/8/layout/vList2"/>
    <dgm:cxn modelId="{2516BB88-0964-47F3-9C50-5F47478A6857}" type="presParOf" srcId="{C205A0F8-B914-445B-A2C8-141A0F748661}" destId="{20FDB3E8-23C5-4722-BD31-CC25FFC1DDF3}" srcOrd="2" destOrd="0" presId="urn:microsoft.com/office/officeart/2005/8/layout/vList2"/>
    <dgm:cxn modelId="{B6C6BE31-CB36-4D45-9F4C-1AB88C80ADD7}" type="presParOf" srcId="{C205A0F8-B914-445B-A2C8-141A0F748661}" destId="{83468092-CCA7-418B-8371-C27B62ED8ACD}" srcOrd="3" destOrd="0" presId="urn:microsoft.com/office/officeart/2005/8/layout/vList2"/>
    <dgm:cxn modelId="{993D381D-3191-4FCE-AC7E-1E6F40A50138}" type="presParOf" srcId="{C205A0F8-B914-445B-A2C8-141A0F748661}" destId="{20F057F8-1308-4DA6-BD80-D9F8A547BA67}" srcOrd="4" destOrd="0" presId="urn:microsoft.com/office/officeart/2005/8/layout/vList2"/>
    <dgm:cxn modelId="{90E30C84-A257-403D-B2E7-B4D04F627CBE}" type="presParOf" srcId="{C205A0F8-B914-445B-A2C8-141A0F748661}" destId="{14EB81AD-2718-4AE6-9B7F-CF281669ECC3}" srcOrd="5" destOrd="0" presId="urn:microsoft.com/office/officeart/2005/8/layout/vList2"/>
    <dgm:cxn modelId="{E7495219-A6A5-42F4-AB6C-8DEE192CE54A}" type="presParOf" srcId="{C205A0F8-B914-445B-A2C8-141A0F748661}" destId="{C0960D51-F357-44C3-972C-F78D83A042AA}" srcOrd="6" destOrd="0" presId="urn:microsoft.com/office/officeart/2005/8/layout/vList2"/>
    <dgm:cxn modelId="{003A8716-D8FA-BD4C-B6D3-AECAFE4CD346}" type="presParOf" srcId="{C205A0F8-B914-445B-A2C8-141A0F748661}" destId="{8F7043C5-7625-7044-BFE0-DE3D6BE05CE3}" srcOrd="7" destOrd="0" presId="urn:microsoft.com/office/officeart/2005/8/layout/vList2"/>
    <dgm:cxn modelId="{E4DE4459-D75E-2B48-AFDB-DD423A2D1EF5}" type="presParOf" srcId="{C205A0F8-B914-445B-A2C8-141A0F748661}" destId="{CA402D5F-F3FD-5F40-8097-816B0D5C7352}"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21C661-6AC1-4BDA-A224-B2499ED5DCA8}">
      <dsp:nvSpPr>
        <dsp:cNvPr id="0" name=""/>
        <dsp:cNvSpPr/>
      </dsp:nvSpPr>
      <dsp:spPr>
        <a:xfrm>
          <a:off x="0" y="28081"/>
          <a:ext cx="6433068" cy="844155"/>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tr-TR" sz="3700" kern="1200" dirty="0">
              <a:latin typeface="Times New Roman" panose="02020603050405020304" pitchFamily="18" charset="0"/>
              <a:cs typeface="Times New Roman" panose="02020603050405020304" pitchFamily="18" charset="0"/>
            </a:rPr>
            <a:t>1) Requirements</a:t>
          </a:r>
          <a:endParaRPr lang="en-US" sz="3700" kern="1200" dirty="0">
            <a:latin typeface="Times New Roman" panose="02020603050405020304" pitchFamily="18" charset="0"/>
            <a:cs typeface="Times New Roman" panose="02020603050405020304" pitchFamily="18" charset="0"/>
          </a:endParaRPr>
        </a:p>
      </dsp:txBody>
      <dsp:txXfrm>
        <a:off x="41208" y="69289"/>
        <a:ext cx="6350652" cy="761739"/>
      </dsp:txXfrm>
    </dsp:sp>
    <dsp:sp modelId="{20FDB3E8-23C5-4722-BD31-CC25FFC1DDF3}">
      <dsp:nvSpPr>
        <dsp:cNvPr id="0" name=""/>
        <dsp:cNvSpPr/>
      </dsp:nvSpPr>
      <dsp:spPr>
        <a:xfrm>
          <a:off x="0" y="954762"/>
          <a:ext cx="6433068" cy="844155"/>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tr-TR" sz="3700" kern="1200" dirty="0">
              <a:latin typeface="Times New Roman" panose="02020603050405020304" pitchFamily="18" charset="0"/>
              <a:cs typeface="Times New Roman" panose="02020603050405020304" pitchFamily="18" charset="0"/>
            </a:rPr>
            <a:t>2) Market &amp; Competitor Study</a:t>
          </a:r>
          <a:endParaRPr lang="en-US" sz="3700" kern="1200" dirty="0">
            <a:latin typeface="Times New Roman" panose="02020603050405020304" pitchFamily="18" charset="0"/>
            <a:cs typeface="Times New Roman" panose="02020603050405020304" pitchFamily="18" charset="0"/>
          </a:endParaRPr>
        </a:p>
      </dsp:txBody>
      <dsp:txXfrm>
        <a:off x="41208" y="995970"/>
        <a:ext cx="6350652" cy="761739"/>
      </dsp:txXfrm>
    </dsp:sp>
    <dsp:sp modelId="{20F057F8-1308-4DA6-BD80-D9F8A547BA67}">
      <dsp:nvSpPr>
        <dsp:cNvPr id="0" name=""/>
        <dsp:cNvSpPr/>
      </dsp:nvSpPr>
      <dsp:spPr>
        <a:xfrm>
          <a:off x="0" y="2778884"/>
          <a:ext cx="6433068" cy="844155"/>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tr-TR" sz="3700" kern="1200" dirty="0">
              <a:latin typeface="Times New Roman" panose="02020603050405020304" pitchFamily="18" charset="0"/>
              <a:cs typeface="Times New Roman" panose="02020603050405020304" pitchFamily="18" charset="0"/>
            </a:rPr>
            <a:t>4) Engineering Drawings</a:t>
          </a:r>
          <a:endParaRPr lang="en-US" sz="3700" kern="1200" dirty="0">
            <a:latin typeface="Times New Roman" panose="02020603050405020304" pitchFamily="18" charset="0"/>
            <a:cs typeface="Times New Roman" panose="02020603050405020304" pitchFamily="18" charset="0"/>
          </a:endParaRPr>
        </a:p>
      </dsp:txBody>
      <dsp:txXfrm>
        <a:off x="41208" y="2820092"/>
        <a:ext cx="6350652" cy="761739"/>
      </dsp:txXfrm>
    </dsp:sp>
    <dsp:sp modelId="{C0960D51-F357-44C3-972C-F78D83A042AA}">
      <dsp:nvSpPr>
        <dsp:cNvPr id="0" name=""/>
        <dsp:cNvSpPr/>
      </dsp:nvSpPr>
      <dsp:spPr>
        <a:xfrm>
          <a:off x="0" y="1925719"/>
          <a:ext cx="6433068" cy="844155"/>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dirty="0">
              <a:latin typeface="Times New Roman" panose="02020603050405020304" pitchFamily="18" charset="0"/>
              <a:cs typeface="Times New Roman" panose="02020603050405020304" pitchFamily="18" charset="0"/>
            </a:rPr>
            <a:t>3) Overall Specifications</a:t>
          </a:r>
        </a:p>
      </dsp:txBody>
      <dsp:txXfrm>
        <a:off x="41208" y="1966927"/>
        <a:ext cx="6350652" cy="761739"/>
      </dsp:txXfrm>
    </dsp:sp>
    <dsp:sp modelId="{CA402D5F-F3FD-5F40-8097-816B0D5C7352}">
      <dsp:nvSpPr>
        <dsp:cNvPr id="0" name=""/>
        <dsp:cNvSpPr/>
      </dsp:nvSpPr>
      <dsp:spPr>
        <a:xfrm>
          <a:off x="0" y="3810954"/>
          <a:ext cx="6433068" cy="844155"/>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GB" sz="3700" kern="1200" dirty="0">
              <a:latin typeface="Times New Roman" panose="02020603050405020304" pitchFamily="18" charset="0"/>
              <a:cs typeface="Times New Roman" panose="02020603050405020304" pitchFamily="18" charset="0"/>
            </a:rPr>
            <a:t>5) References</a:t>
          </a:r>
        </a:p>
      </dsp:txBody>
      <dsp:txXfrm>
        <a:off x="41208" y="3852162"/>
        <a:ext cx="6350652" cy="76173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2FDD30-3418-1B42-9C05-90A72AE05E59}" type="datetimeFigureOut">
              <a:rPr lang="en-US" smtClean="0"/>
              <a:t>11/1/23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24DB71-B9C5-F244-8838-D745C8A0C36E}" type="slidenum">
              <a:rPr lang="en-US" smtClean="0"/>
              <a:t>‹#›</a:t>
            </a:fld>
            <a:endParaRPr lang="en-US" dirty="0"/>
          </a:p>
        </p:txBody>
      </p:sp>
    </p:spTree>
    <p:extLst>
      <p:ext uri="{BB962C8B-B14F-4D97-AF65-F5344CB8AC3E}">
        <p14:creationId xmlns:p14="http://schemas.microsoft.com/office/powerpoint/2010/main" val="7134012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Hello everyone, welcome to our presentation today we will try to explain what we have done so far regarding our project. In this project our team has designed a light helicopter with its primary mission being cheap in and inter city transportation of passengers. The city of operation is chosen to be Istanbul – a busy city where sometimes traffic makes it hard for people to travel. The helicopter that we designed is capable of carrying 3 passengers and 1 pilot with a baggage allowance of 17kg for everyone in the cabin. The primary focus in this project was to make the helicopter light while at the same time satisfying the noise limitations, cruise speed and range requirements. This is the end of introduction, berk will continue with outline, and requirements.</a:t>
            </a:r>
          </a:p>
          <a:p>
            <a:endParaRPr lang="en-US" dirty="0"/>
          </a:p>
        </p:txBody>
      </p:sp>
      <p:sp>
        <p:nvSpPr>
          <p:cNvPr id="4" name="Slide Number Placeholder 3"/>
          <p:cNvSpPr>
            <a:spLocks noGrp="1"/>
          </p:cNvSpPr>
          <p:nvPr>
            <p:ph type="sldNum" sz="quarter" idx="5"/>
          </p:nvPr>
        </p:nvSpPr>
        <p:spPr/>
        <p:txBody>
          <a:bodyPr/>
          <a:lstStyle/>
          <a:p>
            <a:fld id="{E224DB71-B9C5-F244-8838-D745C8A0C36E}" type="slidenum">
              <a:rPr lang="en-US" smtClean="0"/>
              <a:t>1</a:t>
            </a:fld>
            <a:endParaRPr lang="en-US" dirty="0"/>
          </a:p>
        </p:txBody>
      </p:sp>
    </p:spTree>
    <p:extLst>
      <p:ext uri="{BB962C8B-B14F-4D97-AF65-F5344CB8AC3E}">
        <p14:creationId xmlns:p14="http://schemas.microsoft.com/office/powerpoint/2010/main" val="19285201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24DB71-B9C5-F244-8838-D745C8A0C36E}" type="slidenum">
              <a:rPr lang="en-US" smtClean="0"/>
              <a:t>2</a:t>
            </a:fld>
            <a:endParaRPr lang="en-US" dirty="0"/>
          </a:p>
        </p:txBody>
      </p:sp>
    </p:spTree>
    <p:extLst>
      <p:ext uri="{BB962C8B-B14F-4D97-AF65-F5344CB8AC3E}">
        <p14:creationId xmlns:p14="http://schemas.microsoft.com/office/powerpoint/2010/main" val="17005680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224DB71-B9C5-F244-8838-D745C8A0C36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141126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Graphic 1" descr="Tag=AccentColor&#10;Flavor=Light&#10;Target=Fill">
            <a:extLst>
              <a:ext uri="{FF2B5EF4-FFF2-40B4-BE49-F238E27FC236}">
                <a16:creationId xmlns:a16="http://schemas.microsoft.com/office/drawing/2014/main" id="{0D57E7FA-E8FC-45AC-868F-CDC8144939D6}"/>
              </a:ext>
            </a:extLst>
          </p:cNvPr>
          <p:cNvSpPr/>
          <p:nvPr/>
        </p:nvSpPr>
        <p:spPr>
          <a:xfrm rot="10800000" flipV="1">
            <a:off x="2599854" y="527562"/>
            <a:ext cx="6992292" cy="5102484"/>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1508760" y="1591056"/>
            <a:ext cx="5705856" cy="3264408"/>
          </a:xfrm>
        </p:spPr>
        <p:txBody>
          <a:bodyPr anchor="b">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1524000" y="4928616"/>
            <a:ext cx="5705856" cy="996696"/>
          </a:xfrm>
        </p:spPr>
        <p:txBody>
          <a:bodyPr/>
          <a:lstStyle>
            <a:lvl1pPr marL="0" indent="0" algn="l">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CE951E3-0794-422C-AF76-0AD4A7FB19EB}"/>
              </a:ext>
            </a:extLst>
          </p:cNvPr>
          <p:cNvSpPr>
            <a:spLocks noGrp="1"/>
          </p:cNvSpPr>
          <p:nvPr>
            <p:ph type="dt" sz="half" idx="10"/>
          </p:nvPr>
        </p:nvSpPr>
        <p:spPr/>
        <p:txBody>
          <a:bodyPr/>
          <a:lstStyle/>
          <a:p>
            <a:fld id="{3C04E684-10F4-4CC3-A0B9-F03AA7BE37CF}" type="datetimeFigureOut">
              <a:rPr lang="en-US" smtClean="0"/>
              <a:t>11/1/23</a:t>
            </a:fld>
            <a:endParaRPr lang="en-US" dirty="0"/>
          </a:p>
        </p:txBody>
      </p:sp>
      <p:sp>
        <p:nvSpPr>
          <p:cNvPr id="5" name="Footer Placeholder 4">
            <a:extLst>
              <a:ext uri="{FF2B5EF4-FFF2-40B4-BE49-F238E27FC236}">
                <a16:creationId xmlns:a16="http://schemas.microsoft.com/office/drawing/2014/main" id="{114EBFA8-0291-4D77-A9D9-B17FC2382A8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57AC4D4-C4EE-4624-A329-C608A1D5AFE1}"/>
              </a:ext>
            </a:extLst>
          </p:cNvPr>
          <p:cNvSpPr>
            <a:spLocks noGrp="1"/>
          </p:cNvSpPr>
          <p:nvPr>
            <p:ph type="sldNum" sz="quarter" idx="12"/>
          </p:nvPr>
        </p:nvSpPr>
        <p:spPr/>
        <p:txBody>
          <a:bodyPr/>
          <a:lstStyle/>
          <a:p>
            <a:fld id="{51845F5A-061D-4825-9AE9-D7794091C6CF}" type="slidenum">
              <a:rPr lang="en-US" smtClean="0"/>
              <a:t>‹#›</a:t>
            </a:fld>
            <a:endParaRPr lang="en-US" dirty="0"/>
          </a:p>
        </p:txBody>
      </p:sp>
    </p:spTree>
    <p:extLst>
      <p:ext uri="{BB962C8B-B14F-4D97-AF65-F5344CB8AC3E}">
        <p14:creationId xmlns:p14="http://schemas.microsoft.com/office/powerpoint/2010/main" val="20285494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0BAE770-8363-44CD-8A22-AB26C5C5361B}"/>
              </a:ext>
            </a:extLst>
          </p:cNvPr>
          <p:cNvSpPr>
            <a:spLocks noGrp="1"/>
          </p:cNvSpPr>
          <p:nvPr>
            <p:ph type="dt" sz="half" idx="10"/>
          </p:nvPr>
        </p:nvSpPr>
        <p:spPr/>
        <p:txBody>
          <a:bodyPr/>
          <a:lstStyle/>
          <a:p>
            <a:fld id="{3C04E684-10F4-4CC3-A0B9-F03AA7BE37CF}" type="datetimeFigureOut">
              <a:rPr lang="en-US" smtClean="0"/>
              <a:t>11/1/23</a:t>
            </a:fld>
            <a:endParaRPr lang="en-US" dirty="0"/>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51845F5A-061D-4825-9AE9-D7794091C6CF}" type="slidenum">
              <a:rPr lang="en-US" smtClean="0"/>
              <a:t>‹#›</a:t>
            </a:fld>
            <a:endParaRPr lang="en-US" dirty="0"/>
          </a:p>
        </p:txBody>
      </p:sp>
    </p:spTree>
    <p:extLst>
      <p:ext uri="{BB962C8B-B14F-4D97-AF65-F5344CB8AC3E}">
        <p14:creationId xmlns:p14="http://schemas.microsoft.com/office/powerpoint/2010/main" val="8649994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fld id="{3C04E684-10F4-4CC3-A0B9-F03AA7BE37CF}" type="datetimeFigureOut">
              <a:rPr lang="en-US" smtClean="0"/>
              <a:t>11/1/23</a:t>
            </a:fld>
            <a:endParaRPr lang="en-US" dirty="0"/>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51845F5A-061D-4825-9AE9-D7794091C6CF}" type="slidenum">
              <a:rPr lang="en-US" smtClean="0"/>
              <a:t>‹#›</a:t>
            </a:fld>
            <a:endParaRPr lang="en-US" dirty="0"/>
          </a:p>
        </p:txBody>
      </p:sp>
    </p:spTree>
    <p:extLst>
      <p:ext uri="{BB962C8B-B14F-4D97-AF65-F5344CB8AC3E}">
        <p14:creationId xmlns:p14="http://schemas.microsoft.com/office/powerpoint/2010/main" val="24067052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p:txBody>
          <a:bodyPr/>
          <a:lstStyle/>
          <a:p>
            <a:fld id="{3C04E684-10F4-4CC3-A0B9-F03AA7BE37CF}" type="datetimeFigureOut">
              <a:rPr lang="en-US" smtClean="0"/>
              <a:t>11/1/23</a:t>
            </a:fld>
            <a:endParaRPr lang="en-US" dirty="0"/>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51845F5A-061D-4825-9AE9-D7794091C6CF}" type="slidenum">
              <a:rPr lang="en-US" smtClean="0"/>
              <a:t>‹#›</a:t>
            </a:fld>
            <a:endParaRPr lang="en-US" dirty="0"/>
          </a:p>
        </p:txBody>
      </p:sp>
    </p:spTree>
    <p:extLst>
      <p:ext uri="{BB962C8B-B14F-4D97-AF65-F5344CB8AC3E}">
        <p14:creationId xmlns:p14="http://schemas.microsoft.com/office/powerpoint/2010/main" val="351767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fld id="{3C04E684-10F4-4CC3-A0B9-F03AA7BE37CF}" type="datetimeFigureOut">
              <a:rPr lang="en-US" smtClean="0"/>
              <a:t>11/1/23</a:t>
            </a:fld>
            <a:endParaRPr lang="en-US" dirty="0"/>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51845F5A-061D-4825-9AE9-D7794091C6CF}" type="slidenum">
              <a:rPr lang="en-US" smtClean="0"/>
              <a:t>‹#›</a:t>
            </a:fld>
            <a:endParaRPr lang="en-US" dirty="0"/>
          </a:p>
        </p:txBody>
      </p:sp>
    </p:spTree>
    <p:extLst>
      <p:ext uri="{BB962C8B-B14F-4D97-AF65-F5344CB8AC3E}">
        <p14:creationId xmlns:p14="http://schemas.microsoft.com/office/powerpoint/2010/main" val="7801835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2843784" y="1572768"/>
            <a:ext cx="6501384" cy="4096512"/>
          </a:xfrm>
        </p:spPr>
        <p:txBody>
          <a:bodyPr>
            <a:normAutofit/>
          </a:bodyPr>
          <a:lstStyle>
            <a:lvl1pPr algn="ctr">
              <a:defRPr sz="40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p:txBody>
          <a:bodyPr/>
          <a:lstStyle/>
          <a:p>
            <a:fld id="{3C04E684-10F4-4CC3-A0B9-F03AA7BE37CF}" type="datetimeFigureOut">
              <a:rPr lang="en-US" smtClean="0"/>
              <a:t>11/1/23</a:t>
            </a:fld>
            <a:endParaRPr lang="en-US" dirty="0"/>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51845F5A-061D-4825-9AE9-D7794091C6CF}" type="slidenum">
              <a:rPr lang="en-US" smtClean="0"/>
              <a:t>‹#›</a:t>
            </a:fld>
            <a:endParaRPr lang="en-US" dirty="0"/>
          </a:p>
        </p:txBody>
      </p:sp>
    </p:spTree>
    <p:extLst>
      <p:ext uri="{BB962C8B-B14F-4D97-AF65-F5344CB8AC3E}">
        <p14:creationId xmlns:p14="http://schemas.microsoft.com/office/powerpoint/2010/main" val="26325796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11/1/23</a:t>
            </a:fld>
            <a:endParaRPr lang="en-US" dirty="0"/>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dirty="0"/>
          </a:p>
        </p:txBody>
      </p:sp>
    </p:spTree>
    <p:extLst>
      <p:ext uri="{BB962C8B-B14F-4D97-AF65-F5344CB8AC3E}">
        <p14:creationId xmlns:p14="http://schemas.microsoft.com/office/powerpoint/2010/main" val="1137901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2">
    <p:spTree>
      <p:nvGrpSpPr>
        <p:cNvPr id="1" name=""/>
        <p:cNvGrpSpPr/>
        <p:nvPr/>
      </p:nvGrpSpPr>
      <p:grpSpPr>
        <a:xfrm>
          <a:off x="0" y="0"/>
          <a:ext cx="0" cy="0"/>
          <a:chOff x="0" y="0"/>
          <a:chExt cx="0" cy="0"/>
        </a:xfrm>
      </p:grpSpPr>
      <p:sp>
        <p:nvSpPr>
          <p:cNvPr id="6" name="Freeform: Shape 5" descr="Mask ID=&#10;Mask position=bottom, center&#10;Mask family= brushstroke, landscape, wide">
            <a:extLst>
              <a:ext uri="{FF2B5EF4-FFF2-40B4-BE49-F238E27FC236}">
                <a16:creationId xmlns:a16="http://schemas.microsoft.com/office/drawing/2014/main" id="{736BF44D-E8DD-45FA-931D-CBCC67D57944}"/>
              </a:ext>
            </a:extLst>
          </p:cNvPr>
          <p:cNvSpPr/>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accent1">
              <a:alpha val="20000"/>
            </a:schemeClr>
          </a:solidFill>
          <a:ln w="32707" cap="flat">
            <a:noFill/>
            <a:prstDash val="solid"/>
            <a:miter/>
          </a:ln>
        </p:spPr>
        <p:txBody>
          <a:bodyPr wrap="square" rtlCol="0" anchor="ctr">
            <a:noAutofit/>
          </a:bodyPr>
          <a:lstStyle/>
          <a:p>
            <a:endParaRPr lang="en-US" dirty="0"/>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11/1/23</a:t>
            </a:fld>
            <a:endParaRPr lang="en-US" dirty="0"/>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dirty="0"/>
          </a:p>
        </p:txBody>
      </p:sp>
    </p:spTree>
    <p:extLst>
      <p:ext uri="{BB962C8B-B14F-4D97-AF65-F5344CB8AC3E}">
        <p14:creationId xmlns:p14="http://schemas.microsoft.com/office/powerpoint/2010/main" val="1142324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dirty="0">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p:txBody>
          <a:bodyPr/>
          <a:lstStyle/>
          <a:p>
            <a:fld id="{3C04E684-10F4-4CC3-A0B9-F03AA7BE37CF}" type="datetimeFigureOut">
              <a:rPr lang="en-US" smtClean="0"/>
              <a:t>11/1/23</a:t>
            </a:fld>
            <a:endParaRPr lang="en-US" dirty="0"/>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endParaRPr lang="en-US" dirty="0"/>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51845F5A-061D-4825-9AE9-D7794091C6CF}" type="slidenum">
              <a:rPr lang="en-US" smtClean="0"/>
              <a:t>‹#›</a:t>
            </a:fld>
            <a:endParaRPr lang="en-US" dirty="0"/>
          </a:p>
        </p:txBody>
      </p:sp>
    </p:spTree>
    <p:extLst>
      <p:ext uri="{BB962C8B-B14F-4D97-AF65-F5344CB8AC3E}">
        <p14:creationId xmlns:p14="http://schemas.microsoft.com/office/powerpoint/2010/main" val="11380359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p:txBody>
          <a:bodyPr/>
          <a:lstStyle/>
          <a:p>
            <a:fld id="{3C04E684-10F4-4CC3-A0B9-F03AA7BE37CF}" type="datetimeFigureOut">
              <a:rPr lang="en-US" smtClean="0"/>
              <a:t>11/1/23</a:t>
            </a:fld>
            <a:endParaRPr lang="en-US" dirty="0"/>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51845F5A-061D-4825-9AE9-D7794091C6CF}" type="slidenum">
              <a:rPr lang="en-US" smtClean="0"/>
              <a:t>‹#›</a:t>
            </a:fld>
            <a:endParaRPr lang="en-US" dirty="0"/>
          </a:p>
        </p:txBody>
      </p:sp>
    </p:spTree>
    <p:extLst>
      <p:ext uri="{BB962C8B-B14F-4D97-AF65-F5344CB8AC3E}">
        <p14:creationId xmlns:p14="http://schemas.microsoft.com/office/powerpoint/2010/main" val="40223598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C888B-58B8-4428-8B1D-4E26FC5DD5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14F67B-D516-42FA-A2CA-2DCD37CFE8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2BA5FF-4919-4FF8-9C04-06CE156B762F}"/>
              </a:ext>
            </a:extLst>
          </p:cNvPr>
          <p:cNvSpPr>
            <a:spLocks noGrp="1"/>
          </p:cNvSpPr>
          <p:nvPr>
            <p:ph type="dt" sz="half" idx="10"/>
          </p:nvPr>
        </p:nvSpPr>
        <p:spPr/>
        <p:txBody>
          <a:bodyPr/>
          <a:lstStyle/>
          <a:p>
            <a:fld id="{3C04E684-10F4-4CC3-A0B9-F03AA7BE37CF}" type="datetimeFigureOut">
              <a:rPr lang="en-US" smtClean="0"/>
              <a:t>11/1/23</a:t>
            </a:fld>
            <a:endParaRPr lang="en-US" dirty="0"/>
          </a:p>
        </p:txBody>
      </p:sp>
      <p:sp>
        <p:nvSpPr>
          <p:cNvPr id="5" name="Footer Placeholder 4">
            <a:extLst>
              <a:ext uri="{FF2B5EF4-FFF2-40B4-BE49-F238E27FC236}">
                <a16:creationId xmlns:a16="http://schemas.microsoft.com/office/drawing/2014/main" id="{CBEDA970-128E-4150-8E5A-A1B056E8350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AEC6CD1-EE5E-42EF-B76D-BB803BA6AB5E}"/>
              </a:ext>
            </a:extLst>
          </p:cNvPr>
          <p:cNvSpPr>
            <a:spLocks noGrp="1"/>
          </p:cNvSpPr>
          <p:nvPr>
            <p:ph type="sldNum" sz="quarter" idx="12"/>
          </p:nvPr>
        </p:nvSpPr>
        <p:spPr/>
        <p:txBody>
          <a:bodyPr/>
          <a:lstStyle/>
          <a:p>
            <a:fld id="{51845F5A-061D-4825-9AE9-D7794091C6CF}" type="slidenum">
              <a:rPr lang="en-US" smtClean="0"/>
              <a:t>‹#›</a:t>
            </a:fld>
            <a:endParaRPr lang="en-US" dirty="0"/>
          </a:p>
        </p:txBody>
      </p:sp>
    </p:spTree>
    <p:extLst>
      <p:ext uri="{BB962C8B-B14F-4D97-AF65-F5344CB8AC3E}">
        <p14:creationId xmlns:p14="http://schemas.microsoft.com/office/powerpoint/2010/main" val="35736393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0C2A1B-34CA-4877-9435-D77DF32575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255E5E-4A81-44CC-8D99-F56E625D46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9CEECF-A221-4ECC-AD9C-E197D516D24C}"/>
              </a:ext>
            </a:extLst>
          </p:cNvPr>
          <p:cNvSpPr>
            <a:spLocks noGrp="1"/>
          </p:cNvSpPr>
          <p:nvPr>
            <p:ph type="dt" sz="half" idx="10"/>
          </p:nvPr>
        </p:nvSpPr>
        <p:spPr/>
        <p:txBody>
          <a:bodyPr/>
          <a:lstStyle/>
          <a:p>
            <a:fld id="{3C04E684-10F4-4CC3-A0B9-F03AA7BE37CF}" type="datetimeFigureOut">
              <a:rPr lang="en-US" smtClean="0"/>
              <a:t>11/1/23</a:t>
            </a:fld>
            <a:endParaRPr lang="en-US" dirty="0"/>
          </a:p>
        </p:txBody>
      </p:sp>
      <p:sp>
        <p:nvSpPr>
          <p:cNvPr id="5" name="Footer Placeholder 4">
            <a:extLst>
              <a:ext uri="{FF2B5EF4-FFF2-40B4-BE49-F238E27FC236}">
                <a16:creationId xmlns:a16="http://schemas.microsoft.com/office/drawing/2014/main" id="{018F41AE-0DDE-49ED-9F0C-E0E16F599A0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7B47FB7-77F0-4C43-B81E-D04B31C953DA}"/>
              </a:ext>
            </a:extLst>
          </p:cNvPr>
          <p:cNvSpPr>
            <a:spLocks noGrp="1"/>
          </p:cNvSpPr>
          <p:nvPr>
            <p:ph type="sldNum" sz="quarter" idx="12"/>
          </p:nvPr>
        </p:nvSpPr>
        <p:spPr/>
        <p:txBody>
          <a:bodyPr/>
          <a:lstStyle/>
          <a:p>
            <a:fld id="{51845F5A-061D-4825-9AE9-D7794091C6CF}" type="slidenum">
              <a:rPr lang="en-US" smtClean="0"/>
              <a:t>‹#›</a:t>
            </a:fld>
            <a:endParaRPr lang="en-US" dirty="0"/>
          </a:p>
        </p:txBody>
      </p:sp>
    </p:spTree>
    <p:extLst>
      <p:ext uri="{BB962C8B-B14F-4D97-AF65-F5344CB8AC3E}">
        <p14:creationId xmlns:p14="http://schemas.microsoft.com/office/powerpoint/2010/main" val="5712541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64A31-3536-676E-E5F2-625BA4DADE3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CY"/>
          </a:p>
        </p:txBody>
      </p:sp>
      <p:sp>
        <p:nvSpPr>
          <p:cNvPr id="3" name="Subtitle 2">
            <a:extLst>
              <a:ext uri="{FF2B5EF4-FFF2-40B4-BE49-F238E27FC236}">
                <a16:creationId xmlns:a16="http://schemas.microsoft.com/office/drawing/2014/main" id="{AE6B88FF-0C22-5354-366C-1739038013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CY"/>
          </a:p>
        </p:txBody>
      </p:sp>
      <p:sp>
        <p:nvSpPr>
          <p:cNvPr id="4" name="Date Placeholder 3">
            <a:extLst>
              <a:ext uri="{FF2B5EF4-FFF2-40B4-BE49-F238E27FC236}">
                <a16:creationId xmlns:a16="http://schemas.microsoft.com/office/drawing/2014/main" id="{7D544BB9-EF4E-3C42-B69A-18EB27DAC7D4}"/>
              </a:ext>
            </a:extLst>
          </p:cNvPr>
          <p:cNvSpPr>
            <a:spLocks noGrp="1"/>
          </p:cNvSpPr>
          <p:nvPr>
            <p:ph type="dt" sz="half" idx="10"/>
          </p:nvPr>
        </p:nvSpPr>
        <p:spPr/>
        <p:txBody>
          <a:bodyPr/>
          <a:lstStyle/>
          <a:p>
            <a:fld id="{72345051-2045-45DA-935E-2E3CA1A69ADC}" type="datetimeFigureOut">
              <a:rPr lang="en-US" smtClean="0"/>
              <a:t>11/1/23</a:t>
            </a:fld>
            <a:endParaRPr lang="en-US" dirty="0"/>
          </a:p>
        </p:txBody>
      </p:sp>
      <p:sp>
        <p:nvSpPr>
          <p:cNvPr id="5" name="Footer Placeholder 4">
            <a:extLst>
              <a:ext uri="{FF2B5EF4-FFF2-40B4-BE49-F238E27FC236}">
                <a16:creationId xmlns:a16="http://schemas.microsoft.com/office/drawing/2014/main" id="{8F6AC8CA-071B-10EA-2023-28EB1A4E894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F4A8A9B-D7B1-5BAC-CB54-E369A0F30571}"/>
              </a:ext>
            </a:extLst>
          </p:cNvPr>
          <p:cNvSpPr>
            <a:spLocks noGrp="1"/>
          </p:cNvSpPr>
          <p:nvPr>
            <p:ph type="sldNum" sz="quarter" idx="12"/>
          </p:nvPr>
        </p:nvSpPr>
        <p:spPr/>
        <p:txBody>
          <a:bodyPr/>
          <a:lstStyle/>
          <a:p>
            <a:fld id="{A7CD31F4-64FA-4BA0-9498-67783267A8C8}" type="slidenum">
              <a:rPr lang="en-US" smtClean="0"/>
              <a:t>‹#›</a:t>
            </a:fld>
            <a:endParaRPr lang="en-US" dirty="0"/>
          </a:p>
        </p:txBody>
      </p:sp>
    </p:spTree>
    <p:extLst>
      <p:ext uri="{BB962C8B-B14F-4D97-AF65-F5344CB8AC3E}">
        <p14:creationId xmlns:p14="http://schemas.microsoft.com/office/powerpoint/2010/main" val="1737517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7618E-07DD-CF51-D657-E6BD47D41828}"/>
              </a:ext>
            </a:extLst>
          </p:cNvPr>
          <p:cNvSpPr>
            <a:spLocks noGrp="1"/>
          </p:cNvSpPr>
          <p:nvPr>
            <p:ph type="title"/>
          </p:nvPr>
        </p:nvSpPr>
        <p:spPr/>
        <p:txBody>
          <a:bodyPr/>
          <a:lstStyle/>
          <a:p>
            <a:r>
              <a:rPr lang="en-GB"/>
              <a:t>Click to edit Master title style</a:t>
            </a:r>
            <a:endParaRPr lang="en-CY"/>
          </a:p>
        </p:txBody>
      </p:sp>
      <p:sp>
        <p:nvSpPr>
          <p:cNvPr id="3" name="Content Placeholder 2">
            <a:extLst>
              <a:ext uri="{FF2B5EF4-FFF2-40B4-BE49-F238E27FC236}">
                <a16:creationId xmlns:a16="http://schemas.microsoft.com/office/drawing/2014/main" id="{5210C138-2365-08EA-D323-DC0C99E8042D}"/>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Y"/>
          </a:p>
        </p:txBody>
      </p:sp>
      <p:sp>
        <p:nvSpPr>
          <p:cNvPr id="4" name="Date Placeholder 3">
            <a:extLst>
              <a:ext uri="{FF2B5EF4-FFF2-40B4-BE49-F238E27FC236}">
                <a16:creationId xmlns:a16="http://schemas.microsoft.com/office/drawing/2014/main" id="{B9ACE439-F21F-F761-C984-4CC35EEA5E2E}"/>
              </a:ext>
            </a:extLst>
          </p:cNvPr>
          <p:cNvSpPr>
            <a:spLocks noGrp="1"/>
          </p:cNvSpPr>
          <p:nvPr>
            <p:ph type="dt" sz="half" idx="10"/>
          </p:nvPr>
        </p:nvSpPr>
        <p:spPr/>
        <p:txBody>
          <a:bodyPr/>
          <a:lstStyle/>
          <a:p>
            <a:fld id="{3C04E684-10F4-4CC3-A0B9-F03AA7BE37CF}" type="datetimeFigureOut">
              <a:rPr lang="en-US" smtClean="0"/>
              <a:t>11/1/23</a:t>
            </a:fld>
            <a:endParaRPr lang="en-US" dirty="0"/>
          </a:p>
        </p:txBody>
      </p:sp>
      <p:sp>
        <p:nvSpPr>
          <p:cNvPr id="5" name="Footer Placeholder 4">
            <a:extLst>
              <a:ext uri="{FF2B5EF4-FFF2-40B4-BE49-F238E27FC236}">
                <a16:creationId xmlns:a16="http://schemas.microsoft.com/office/drawing/2014/main" id="{E3317C3C-2C4B-92F4-F6CF-DCC3BECE5FA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3C6DD0E-9152-55CD-BB78-4A20B32F2D8E}"/>
              </a:ext>
            </a:extLst>
          </p:cNvPr>
          <p:cNvSpPr>
            <a:spLocks noGrp="1"/>
          </p:cNvSpPr>
          <p:nvPr>
            <p:ph type="sldNum" sz="quarter" idx="12"/>
          </p:nvPr>
        </p:nvSpPr>
        <p:spPr/>
        <p:txBody>
          <a:bodyPr/>
          <a:lstStyle/>
          <a:p>
            <a:fld id="{51845F5A-061D-4825-9AE9-D7794091C6CF}" type="slidenum">
              <a:rPr lang="en-US" smtClean="0"/>
              <a:t>‹#›</a:t>
            </a:fld>
            <a:endParaRPr lang="en-US" dirty="0"/>
          </a:p>
        </p:txBody>
      </p:sp>
    </p:spTree>
    <p:extLst>
      <p:ext uri="{BB962C8B-B14F-4D97-AF65-F5344CB8AC3E}">
        <p14:creationId xmlns:p14="http://schemas.microsoft.com/office/powerpoint/2010/main" val="10330072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7795D-09FB-2518-DB91-845ADF8C678D}"/>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CY"/>
          </a:p>
        </p:txBody>
      </p:sp>
      <p:sp>
        <p:nvSpPr>
          <p:cNvPr id="3" name="Text Placeholder 2">
            <a:extLst>
              <a:ext uri="{FF2B5EF4-FFF2-40B4-BE49-F238E27FC236}">
                <a16:creationId xmlns:a16="http://schemas.microsoft.com/office/drawing/2014/main" id="{EC1FF386-914C-A7BB-F718-5969452BAC6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F069060-4DB4-C7E3-4A7D-C2F294C7FDCA}"/>
              </a:ext>
            </a:extLst>
          </p:cNvPr>
          <p:cNvSpPr>
            <a:spLocks noGrp="1"/>
          </p:cNvSpPr>
          <p:nvPr>
            <p:ph type="dt" sz="half" idx="10"/>
          </p:nvPr>
        </p:nvSpPr>
        <p:spPr/>
        <p:txBody>
          <a:bodyPr/>
          <a:lstStyle/>
          <a:p>
            <a:fld id="{72345051-2045-45DA-935E-2E3CA1A69ADC}" type="datetimeFigureOut">
              <a:rPr lang="en-US" smtClean="0"/>
              <a:t>11/1/23</a:t>
            </a:fld>
            <a:endParaRPr lang="en-US" dirty="0"/>
          </a:p>
        </p:txBody>
      </p:sp>
      <p:sp>
        <p:nvSpPr>
          <p:cNvPr id="5" name="Footer Placeholder 4">
            <a:extLst>
              <a:ext uri="{FF2B5EF4-FFF2-40B4-BE49-F238E27FC236}">
                <a16:creationId xmlns:a16="http://schemas.microsoft.com/office/drawing/2014/main" id="{D6C42157-1ABD-5D46-A19A-A7D4DFAAF8D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A129BB1-5E6F-A388-101D-F63A530B0EBC}"/>
              </a:ext>
            </a:extLst>
          </p:cNvPr>
          <p:cNvSpPr>
            <a:spLocks noGrp="1"/>
          </p:cNvSpPr>
          <p:nvPr>
            <p:ph type="sldNum" sz="quarter" idx="12"/>
          </p:nvPr>
        </p:nvSpPr>
        <p:spPr/>
        <p:txBody>
          <a:bodyPr/>
          <a:lstStyle/>
          <a:p>
            <a:fld id="{A7CD31F4-64FA-4BA0-9498-67783267A8C8}" type="slidenum">
              <a:rPr lang="en-US" smtClean="0"/>
              <a:t>‹#›</a:t>
            </a:fld>
            <a:endParaRPr lang="en-US" dirty="0"/>
          </a:p>
        </p:txBody>
      </p:sp>
    </p:spTree>
    <p:extLst>
      <p:ext uri="{BB962C8B-B14F-4D97-AF65-F5344CB8AC3E}">
        <p14:creationId xmlns:p14="http://schemas.microsoft.com/office/powerpoint/2010/main" val="18555596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EB0D6-1073-5A32-FDB1-38345F48D83D}"/>
              </a:ext>
            </a:extLst>
          </p:cNvPr>
          <p:cNvSpPr>
            <a:spLocks noGrp="1"/>
          </p:cNvSpPr>
          <p:nvPr>
            <p:ph type="title"/>
          </p:nvPr>
        </p:nvSpPr>
        <p:spPr/>
        <p:txBody>
          <a:bodyPr/>
          <a:lstStyle/>
          <a:p>
            <a:r>
              <a:rPr lang="en-GB"/>
              <a:t>Click to edit Master title style</a:t>
            </a:r>
            <a:endParaRPr lang="en-CY"/>
          </a:p>
        </p:txBody>
      </p:sp>
      <p:sp>
        <p:nvSpPr>
          <p:cNvPr id="3" name="Content Placeholder 2">
            <a:extLst>
              <a:ext uri="{FF2B5EF4-FFF2-40B4-BE49-F238E27FC236}">
                <a16:creationId xmlns:a16="http://schemas.microsoft.com/office/drawing/2014/main" id="{171692D5-BFD4-E291-226C-E8DC1AC094C3}"/>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Y"/>
          </a:p>
        </p:txBody>
      </p:sp>
      <p:sp>
        <p:nvSpPr>
          <p:cNvPr id="4" name="Content Placeholder 3">
            <a:extLst>
              <a:ext uri="{FF2B5EF4-FFF2-40B4-BE49-F238E27FC236}">
                <a16:creationId xmlns:a16="http://schemas.microsoft.com/office/drawing/2014/main" id="{608545E3-635E-EF8A-D8DD-2A9F310CAFA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Y"/>
          </a:p>
        </p:txBody>
      </p:sp>
      <p:sp>
        <p:nvSpPr>
          <p:cNvPr id="5" name="Date Placeholder 4">
            <a:extLst>
              <a:ext uri="{FF2B5EF4-FFF2-40B4-BE49-F238E27FC236}">
                <a16:creationId xmlns:a16="http://schemas.microsoft.com/office/drawing/2014/main" id="{39C9EFD2-94EF-6BF8-DB66-746B1BE2344D}"/>
              </a:ext>
            </a:extLst>
          </p:cNvPr>
          <p:cNvSpPr>
            <a:spLocks noGrp="1"/>
          </p:cNvSpPr>
          <p:nvPr>
            <p:ph type="dt" sz="half" idx="10"/>
          </p:nvPr>
        </p:nvSpPr>
        <p:spPr/>
        <p:txBody>
          <a:bodyPr/>
          <a:lstStyle/>
          <a:p>
            <a:fld id="{3C04E684-10F4-4CC3-A0B9-F03AA7BE37CF}" type="datetimeFigureOut">
              <a:rPr lang="en-US" smtClean="0"/>
              <a:t>11/1/23</a:t>
            </a:fld>
            <a:endParaRPr lang="en-US" dirty="0"/>
          </a:p>
        </p:txBody>
      </p:sp>
      <p:sp>
        <p:nvSpPr>
          <p:cNvPr id="6" name="Footer Placeholder 5">
            <a:extLst>
              <a:ext uri="{FF2B5EF4-FFF2-40B4-BE49-F238E27FC236}">
                <a16:creationId xmlns:a16="http://schemas.microsoft.com/office/drawing/2014/main" id="{F8B89C8D-C1F9-AA35-767C-F2C02177017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F967866-8C94-833B-DC5B-35E871CFE45E}"/>
              </a:ext>
            </a:extLst>
          </p:cNvPr>
          <p:cNvSpPr>
            <a:spLocks noGrp="1"/>
          </p:cNvSpPr>
          <p:nvPr>
            <p:ph type="sldNum" sz="quarter" idx="12"/>
          </p:nvPr>
        </p:nvSpPr>
        <p:spPr/>
        <p:txBody>
          <a:bodyPr/>
          <a:lstStyle/>
          <a:p>
            <a:fld id="{51845F5A-061D-4825-9AE9-D7794091C6CF}" type="slidenum">
              <a:rPr lang="en-US" smtClean="0"/>
              <a:t>‹#›</a:t>
            </a:fld>
            <a:endParaRPr lang="en-US" dirty="0"/>
          </a:p>
        </p:txBody>
      </p:sp>
    </p:spTree>
    <p:extLst>
      <p:ext uri="{BB962C8B-B14F-4D97-AF65-F5344CB8AC3E}">
        <p14:creationId xmlns:p14="http://schemas.microsoft.com/office/powerpoint/2010/main" val="8758168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851B9-FD84-E750-5BBA-C6AF637F8D24}"/>
              </a:ext>
            </a:extLst>
          </p:cNvPr>
          <p:cNvSpPr>
            <a:spLocks noGrp="1"/>
          </p:cNvSpPr>
          <p:nvPr>
            <p:ph type="title"/>
          </p:nvPr>
        </p:nvSpPr>
        <p:spPr>
          <a:xfrm>
            <a:off x="839788" y="365125"/>
            <a:ext cx="10515600" cy="1325563"/>
          </a:xfrm>
        </p:spPr>
        <p:txBody>
          <a:bodyPr/>
          <a:lstStyle/>
          <a:p>
            <a:r>
              <a:rPr lang="en-GB"/>
              <a:t>Click to edit Master title style</a:t>
            </a:r>
            <a:endParaRPr lang="en-CY"/>
          </a:p>
        </p:txBody>
      </p:sp>
      <p:sp>
        <p:nvSpPr>
          <p:cNvPr id="3" name="Text Placeholder 2">
            <a:extLst>
              <a:ext uri="{FF2B5EF4-FFF2-40B4-BE49-F238E27FC236}">
                <a16:creationId xmlns:a16="http://schemas.microsoft.com/office/drawing/2014/main" id="{2C98C60E-BDB4-3680-3649-730E5258A6F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FB4F741-C5C9-B011-51E9-A1F186054EC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Y"/>
          </a:p>
        </p:txBody>
      </p:sp>
      <p:sp>
        <p:nvSpPr>
          <p:cNvPr id="5" name="Text Placeholder 4">
            <a:extLst>
              <a:ext uri="{FF2B5EF4-FFF2-40B4-BE49-F238E27FC236}">
                <a16:creationId xmlns:a16="http://schemas.microsoft.com/office/drawing/2014/main" id="{56A3A206-F3D5-424D-2F1A-B7718D214F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F91A278-4D54-8CEA-E3A7-7EC57C6A08E9}"/>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Y"/>
          </a:p>
        </p:txBody>
      </p:sp>
      <p:sp>
        <p:nvSpPr>
          <p:cNvPr id="7" name="Date Placeholder 6">
            <a:extLst>
              <a:ext uri="{FF2B5EF4-FFF2-40B4-BE49-F238E27FC236}">
                <a16:creationId xmlns:a16="http://schemas.microsoft.com/office/drawing/2014/main" id="{52BB53BB-1A84-341E-AF37-FFC220D7A1E1}"/>
              </a:ext>
            </a:extLst>
          </p:cNvPr>
          <p:cNvSpPr>
            <a:spLocks noGrp="1"/>
          </p:cNvSpPr>
          <p:nvPr>
            <p:ph type="dt" sz="half" idx="10"/>
          </p:nvPr>
        </p:nvSpPr>
        <p:spPr/>
        <p:txBody>
          <a:bodyPr/>
          <a:lstStyle/>
          <a:p>
            <a:fld id="{3C04E684-10F4-4CC3-A0B9-F03AA7BE37CF}" type="datetimeFigureOut">
              <a:rPr lang="en-US" smtClean="0"/>
              <a:t>11/1/23</a:t>
            </a:fld>
            <a:endParaRPr lang="en-US" dirty="0"/>
          </a:p>
        </p:txBody>
      </p:sp>
      <p:sp>
        <p:nvSpPr>
          <p:cNvPr id="8" name="Footer Placeholder 7">
            <a:extLst>
              <a:ext uri="{FF2B5EF4-FFF2-40B4-BE49-F238E27FC236}">
                <a16:creationId xmlns:a16="http://schemas.microsoft.com/office/drawing/2014/main" id="{3541E62B-AD2A-185A-AD1C-39A3B654D709}"/>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04C7F935-2502-CF64-6676-931D91B93E12}"/>
              </a:ext>
            </a:extLst>
          </p:cNvPr>
          <p:cNvSpPr>
            <a:spLocks noGrp="1"/>
          </p:cNvSpPr>
          <p:nvPr>
            <p:ph type="sldNum" sz="quarter" idx="12"/>
          </p:nvPr>
        </p:nvSpPr>
        <p:spPr/>
        <p:txBody>
          <a:bodyPr/>
          <a:lstStyle/>
          <a:p>
            <a:fld id="{51845F5A-061D-4825-9AE9-D7794091C6CF}" type="slidenum">
              <a:rPr lang="en-US" smtClean="0"/>
              <a:t>‹#›</a:t>
            </a:fld>
            <a:endParaRPr lang="en-US" dirty="0"/>
          </a:p>
        </p:txBody>
      </p:sp>
    </p:spTree>
    <p:extLst>
      <p:ext uri="{BB962C8B-B14F-4D97-AF65-F5344CB8AC3E}">
        <p14:creationId xmlns:p14="http://schemas.microsoft.com/office/powerpoint/2010/main" val="33020490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1C00D-F41B-3EB7-8E30-0104FAADAFDD}"/>
              </a:ext>
            </a:extLst>
          </p:cNvPr>
          <p:cNvSpPr>
            <a:spLocks noGrp="1"/>
          </p:cNvSpPr>
          <p:nvPr>
            <p:ph type="title"/>
          </p:nvPr>
        </p:nvSpPr>
        <p:spPr/>
        <p:txBody>
          <a:bodyPr/>
          <a:lstStyle/>
          <a:p>
            <a:r>
              <a:rPr lang="en-GB"/>
              <a:t>Click to edit Master title style</a:t>
            </a:r>
            <a:endParaRPr lang="en-CY"/>
          </a:p>
        </p:txBody>
      </p:sp>
      <p:sp>
        <p:nvSpPr>
          <p:cNvPr id="3" name="Date Placeholder 2">
            <a:extLst>
              <a:ext uri="{FF2B5EF4-FFF2-40B4-BE49-F238E27FC236}">
                <a16:creationId xmlns:a16="http://schemas.microsoft.com/office/drawing/2014/main" id="{2C6CD9ED-C281-0939-AEDA-4355CD661997}"/>
              </a:ext>
            </a:extLst>
          </p:cNvPr>
          <p:cNvSpPr>
            <a:spLocks noGrp="1"/>
          </p:cNvSpPr>
          <p:nvPr>
            <p:ph type="dt" sz="half" idx="10"/>
          </p:nvPr>
        </p:nvSpPr>
        <p:spPr/>
        <p:txBody>
          <a:bodyPr/>
          <a:lstStyle/>
          <a:p>
            <a:fld id="{72345051-2045-45DA-935E-2E3CA1A69ADC}" type="datetimeFigureOut">
              <a:rPr lang="en-US" smtClean="0"/>
              <a:t>11/1/23</a:t>
            </a:fld>
            <a:endParaRPr lang="en-US" dirty="0"/>
          </a:p>
        </p:txBody>
      </p:sp>
      <p:sp>
        <p:nvSpPr>
          <p:cNvPr id="4" name="Footer Placeholder 3">
            <a:extLst>
              <a:ext uri="{FF2B5EF4-FFF2-40B4-BE49-F238E27FC236}">
                <a16:creationId xmlns:a16="http://schemas.microsoft.com/office/drawing/2014/main" id="{56D3A965-7E08-0A52-6A46-C916C523137C}"/>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CCD78CFC-C427-72E3-3707-0E37B47D21EE}"/>
              </a:ext>
            </a:extLst>
          </p:cNvPr>
          <p:cNvSpPr>
            <a:spLocks noGrp="1"/>
          </p:cNvSpPr>
          <p:nvPr>
            <p:ph type="sldNum" sz="quarter" idx="12"/>
          </p:nvPr>
        </p:nvSpPr>
        <p:spPr/>
        <p:txBody>
          <a:bodyPr/>
          <a:lstStyle/>
          <a:p>
            <a:fld id="{A7CD31F4-64FA-4BA0-9498-67783267A8C8}" type="slidenum">
              <a:rPr lang="en-US" smtClean="0"/>
              <a:t>‹#›</a:t>
            </a:fld>
            <a:endParaRPr lang="en-US" dirty="0"/>
          </a:p>
        </p:txBody>
      </p:sp>
    </p:spTree>
    <p:extLst>
      <p:ext uri="{BB962C8B-B14F-4D97-AF65-F5344CB8AC3E}">
        <p14:creationId xmlns:p14="http://schemas.microsoft.com/office/powerpoint/2010/main" val="15022397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E7C83E-C975-94F7-8832-3C16D41CF590}"/>
              </a:ext>
            </a:extLst>
          </p:cNvPr>
          <p:cNvSpPr>
            <a:spLocks noGrp="1"/>
          </p:cNvSpPr>
          <p:nvPr>
            <p:ph type="dt" sz="half" idx="10"/>
          </p:nvPr>
        </p:nvSpPr>
        <p:spPr/>
        <p:txBody>
          <a:bodyPr/>
          <a:lstStyle/>
          <a:p>
            <a:fld id="{72345051-2045-45DA-935E-2E3CA1A69ADC}" type="datetimeFigureOut">
              <a:rPr lang="en-US" smtClean="0"/>
              <a:t>11/1/23</a:t>
            </a:fld>
            <a:endParaRPr lang="en-US" dirty="0"/>
          </a:p>
        </p:txBody>
      </p:sp>
      <p:sp>
        <p:nvSpPr>
          <p:cNvPr id="3" name="Footer Placeholder 2">
            <a:extLst>
              <a:ext uri="{FF2B5EF4-FFF2-40B4-BE49-F238E27FC236}">
                <a16:creationId xmlns:a16="http://schemas.microsoft.com/office/drawing/2014/main" id="{4BB71575-DEF5-213B-207C-09EC626563CA}"/>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5F19DCCC-0ED8-B3F4-A48B-C71B4ABA1222}"/>
              </a:ext>
            </a:extLst>
          </p:cNvPr>
          <p:cNvSpPr>
            <a:spLocks noGrp="1"/>
          </p:cNvSpPr>
          <p:nvPr>
            <p:ph type="sldNum" sz="quarter" idx="12"/>
          </p:nvPr>
        </p:nvSpPr>
        <p:spPr/>
        <p:txBody>
          <a:bodyPr/>
          <a:lstStyle/>
          <a:p>
            <a:fld id="{A7CD31F4-64FA-4BA0-9498-67783267A8C8}" type="slidenum">
              <a:rPr lang="en-US" smtClean="0"/>
              <a:t>‹#›</a:t>
            </a:fld>
            <a:endParaRPr lang="en-US" dirty="0"/>
          </a:p>
        </p:txBody>
      </p:sp>
    </p:spTree>
    <p:extLst>
      <p:ext uri="{BB962C8B-B14F-4D97-AF65-F5344CB8AC3E}">
        <p14:creationId xmlns:p14="http://schemas.microsoft.com/office/powerpoint/2010/main" val="36146379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31642-C679-7B8D-4EF3-9B21793593D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CY"/>
          </a:p>
        </p:txBody>
      </p:sp>
      <p:sp>
        <p:nvSpPr>
          <p:cNvPr id="3" name="Content Placeholder 2">
            <a:extLst>
              <a:ext uri="{FF2B5EF4-FFF2-40B4-BE49-F238E27FC236}">
                <a16:creationId xmlns:a16="http://schemas.microsoft.com/office/drawing/2014/main" id="{075C8D3E-35C2-6A23-A568-093647A20B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Y"/>
          </a:p>
        </p:txBody>
      </p:sp>
      <p:sp>
        <p:nvSpPr>
          <p:cNvPr id="4" name="Text Placeholder 3">
            <a:extLst>
              <a:ext uri="{FF2B5EF4-FFF2-40B4-BE49-F238E27FC236}">
                <a16:creationId xmlns:a16="http://schemas.microsoft.com/office/drawing/2014/main" id="{A302B3D3-CCD1-C9EC-B542-7A58C6F97F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3539AB8-9955-CC48-5B98-823879205D19}"/>
              </a:ext>
            </a:extLst>
          </p:cNvPr>
          <p:cNvSpPr>
            <a:spLocks noGrp="1"/>
          </p:cNvSpPr>
          <p:nvPr>
            <p:ph type="dt" sz="half" idx="10"/>
          </p:nvPr>
        </p:nvSpPr>
        <p:spPr/>
        <p:txBody>
          <a:bodyPr/>
          <a:lstStyle/>
          <a:p>
            <a:fld id="{3C04E684-10F4-4CC3-A0B9-F03AA7BE37CF}" type="datetimeFigureOut">
              <a:rPr lang="en-US" smtClean="0"/>
              <a:t>11/1/23</a:t>
            </a:fld>
            <a:endParaRPr lang="en-US" dirty="0"/>
          </a:p>
        </p:txBody>
      </p:sp>
      <p:sp>
        <p:nvSpPr>
          <p:cNvPr id="6" name="Footer Placeholder 5">
            <a:extLst>
              <a:ext uri="{FF2B5EF4-FFF2-40B4-BE49-F238E27FC236}">
                <a16:creationId xmlns:a16="http://schemas.microsoft.com/office/drawing/2014/main" id="{AB79AC8D-70B3-316E-2F60-3FBE0252309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0DB05D2-54DB-C96F-B9C3-905810B9D145}"/>
              </a:ext>
            </a:extLst>
          </p:cNvPr>
          <p:cNvSpPr>
            <a:spLocks noGrp="1"/>
          </p:cNvSpPr>
          <p:nvPr>
            <p:ph type="sldNum" sz="quarter" idx="12"/>
          </p:nvPr>
        </p:nvSpPr>
        <p:spPr/>
        <p:txBody>
          <a:bodyPr/>
          <a:lstStyle/>
          <a:p>
            <a:fld id="{51845F5A-061D-4825-9AE9-D7794091C6CF}" type="slidenum">
              <a:rPr lang="en-US" smtClean="0"/>
              <a:t>‹#›</a:t>
            </a:fld>
            <a:endParaRPr lang="en-US" dirty="0"/>
          </a:p>
        </p:txBody>
      </p:sp>
    </p:spTree>
    <p:extLst>
      <p:ext uri="{BB962C8B-B14F-4D97-AF65-F5344CB8AC3E}">
        <p14:creationId xmlns:p14="http://schemas.microsoft.com/office/powerpoint/2010/main" val="36965690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0583B-F68C-22F7-B9B3-ABF6F563449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CY"/>
          </a:p>
        </p:txBody>
      </p:sp>
      <p:sp>
        <p:nvSpPr>
          <p:cNvPr id="3" name="Picture Placeholder 2">
            <a:extLst>
              <a:ext uri="{FF2B5EF4-FFF2-40B4-BE49-F238E27FC236}">
                <a16:creationId xmlns:a16="http://schemas.microsoft.com/office/drawing/2014/main" id="{F6B93FCC-A41C-D7D6-3CBB-4BFB2AB038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Y"/>
          </a:p>
        </p:txBody>
      </p:sp>
      <p:sp>
        <p:nvSpPr>
          <p:cNvPr id="4" name="Text Placeholder 3">
            <a:extLst>
              <a:ext uri="{FF2B5EF4-FFF2-40B4-BE49-F238E27FC236}">
                <a16:creationId xmlns:a16="http://schemas.microsoft.com/office/drawing/2014/main" id="{863970EA-AEE8-5875-8ECA-52E3E64A4F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E45EA81-AA07-0D9B-489F-018ED31E5E65}"/>
              </a:ext>
            </a:extLst>
          </p:cNvPr>
          <p:cNvSpPr>
            <a:spLocks noGrp="1"/>
          </p:cNvSpPr>
          <p:nvPr>
            <p:ph type="dt" sz="half" idx="10"/>
          </p:nvPr>
        </p:nvSpPr>
        <p:spPr/>
        <p:txBody>
          <a:bodyPr/>
          <a:lstStyle/>
          <a:p>
            <a:fld id="{72345051-2045-45DA-935E-2E3CA1A69ADC}" type="datetimeFigureOut">
              <a:rPr lang="en-US" smtClean="0"/>
              <a:t>11/1/23</a:t>
            </a:fld>
            <a:endParaRPr lang="en-US" dirty="0"/>
          </a:p>
        </p:txBody>
      </p:sp>
      <p:sp>
        <p:nvSpPr>
          <p:cNvPr id="6" name="Footer Placeholder 5">
            <a:extLst>
              <a:ext uri="{FF2B5EF4-FFF2-40B4-BE49-F238E27FC236}">
                <a16:creationId xmlns:a16="http://schemas.microsoft.com/office/drawing/2014/main" id="{799F1CB3-06D9-B838-0D6B-D50DF605E5F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05ED8F9-BD8F-4DF1-EB2A-B3C1600EC612}"/>
              </a:ext>
            </a:extLst>
          </p:cNvPr>
          <p:cNvSpPr>
            <a:spLocks noGrp="1"/>
          </p:cNvSpPr>
          <p:nvPr>
            <p:ph type="sldNum" sz="quarter" idx="12"/>
          </p:nvPr>
        </p:nvSpPr>
        <p:spPr/>
        <p:txBody>
          <a:bodyPr/>
          <a:lstStyle/>
          <a:p>
            <a:fld id="{A7CD31F4-64FA-4BA0-9498-67783267A8C8}" type="slidenum">
              <a:rPr lang="en-US" smtClean="0"/>
              <a:t>‹#›</a:t>
            </a:fld>
            <a:endParaRPr lang="en-US" dirty="0"/>
          </a:p>
        </p:txBody>
      </p:sp>
    </p:spTree>
    <p:extLst>
      <p:ext uri="{BB962C8B-B14F-4D97-AF65-F5344CB8AC3E}">
        <p14:creationId xmlns:p14="http://schemas.microsoft.com/office/powerpoint/2010/main" val="37748336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E42EB-3678-A03F-95A3-94544F2797C4}"/>
              </a:ext>
            </a:extLst>
          </p:cNvPr>
          <p:cNvSpPr>
            <a:spLocks noGrp="1"/>
          </p:cNvSpPr>
          <p:nvPr>
            <p:ph type="title"/>
          </p:nvPr>
        </p:nvSpPr>
        <p:spPr/>
        <p:txBody>
          <a:bodyPr/>
          <a:lstStyle/>
          <a:p>
            <a:r>
              <a:rPr lang="en-GB"/>
              <a:t>Click to edit Master title style</a:t>
            </a:r>
            <a:endParaRPr lang="en-CY"/>
          </a:p>
        </p:txBody>
      </p:sp>
      <p:sp>
        <p:nvSpPr>
          <p:cNvPr id="3" name="Vertical Text Placeholder 2">
            <a:extLst>
              <a:ext uri="{FF2B5EF4-FFF2-40B4-BE49-F238E27FC236}">
                <a16:creationId xmlns:a16="http://schemas.microsoft.com/office/drawing/2014/main" id="{4C028AED-1AF5-B47C-3C64-895220A104F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Y"/>
          </a:p>
        </p:txBody>
      </p:sp>
      <p:sp>
        <p:nvSpPr>
          <p:cNvPr id="4" name="Date Placeholder 3">
            <a:extLst>
              <a:ext uri="{FF2B5EF4-FFF2-40B4-BE49-F238E27FC236}">
                <a16:creationId xmlns:a16="http://schemas.microsoft.com/office/drawing/2014/main" id="{4E1FCBB5-1D9E-E02B-6B1F-EB66238A50B8}"/>
              </a:ext>
            </a:extLst>
          </p:cNvPr>
          <p:cNvSpPr>
            <a:spLocks noGrp="1"/>
          </p:cNvSpPr>
          <p:nvPr>
            <p:ph type="dt" sz="half" idx="10"/>
          </p:nvPr>
        </p:nvSpPr>
        <p:spPr/>
        <p:txBody>
          <a:bodyPr/>
          <a:lstStyle/>
          <a:p>
            <a:fld id="{3C04E684-10F4-4CC3-A0B9-F03AA7BE37CF}" type="datetimeFigureOut">
              <a:rPr lang="en-US" smtClean="0"/>
              <a:t>11/1/23</a:t>
            </a:fld>
            <a:endParaRPr lang="en-US" dirty="0"/>
          </a:p>
        </p:txBody>
      </p:sp>
      <p:sp>
        <p:nvSpPr>
          <p:cNvPr id="5" name="Footer Placeholder 4">
            <a:extLst>
              <a:ext uri="{FF2B5EF4-FFF2-40B4-BE49-F238E27FC236}">
                <a16:creationId xmlns:a16="http://schemas.microsoft.com/office/drawing/2014/main" id="{1B16B584-0B04-4C76-14D1-90C6F47F2B5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3C750D5-D8B2-5D39-6D0E-BF6B7D4C5088}"/>
              </a:ext>
            </a:extLst>
          </p:cNvPr>
          <p:cNvSpPr>
            <a:spLocks noGrp="1"/>
          </p:cNvSpPr>
          <p:nvPr>
            <p:ph type="sldNum" sz="quarter" idx="12"/>
          </p:nvPr>
        </p:nvSpPr>
        <p:spPr/>
        <p:txBody>
          <a:bodyPr/>
          <a:lstStyle/>
          <a:p>
            <a:fld id="{51845F5A-061D-4825-9AE9-D7794091C6CF}" type="slidenum">
              <a:rPr lang="en-US" smtClean="0"/>
              <a:t>‹#›</a:t>
            </a:fld>
            <a:endParaRPr lang="en-US" dirty="0"/>
          </a:p>
        </p:txBody>
      </p:sp>
    </p:spTree>
    <p:extLst>
      <p:ext uri="{BB962C8B-B14F-4D97-AF65-F5344CB8AC3E}">
        <p14:creationId xmlns:p14="http://schemas.microsoft.com/office/powerpoint/2010/main" val="19241772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C437D0-8124-0C98-98C6-E0DE54134D8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CY"/>
          </a:p>
        </p:txBody>
      </p:sp>
      <p:sp>
        <p:nvSpPr>
          <p:cNvPr id="3" name="Vertical Text Placeholder 2">
            <a:extLst>
              <a:ext uri="{FF2B5EF4-FFF2-40B4-BE49-F238E27FC236}">
                <a16:creationId xmlns:a16="http://schemas.microsoft.com/office/drawing/2014/main" id="{1BF5C965-4180-27E5-1967-C9AE5C86D19B}"/>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Y"/>
          </a:p>
        </p:txBody>
      </p:sp>
      <p:sp>
        <p:nvSpPr>
          <p:cNvPr id="4" name="Date Placeholder 3">
            <a:extLst>
              <a:ext uri="{FF2B5EF4-FFF2-40B4-BE49-F238E27FC236}">
                <a16:creationId xmlns:a16="http://schemas.microsoft.com/office/drawing/2014/main" id="{7A49E7E3-693C-D531-9C47-2D2E8F561B76}"/>
              </a:ext>
            </a:extLst>
          </p:cNvPr>
          <p:cNvSpPr>
            <a:spLocks noGrp="1"/>
          </p:cNvSpPr>
          <p:nvPr>
            <p:ph type="dt" sz="half" idx="10"/>
          </p:nvPr>
        </p:nvSpPr>
        <p:spPr/>
        <p:txBody>
          <a:bodyPr/>
          <a:lstStyle/>
          <a:p>
            <a:fld id="{3C04E684-10F4-4CC3-A0B9-F03AA7BE37CF}" type="datetimeFigureOut">
              <a:rPr lang="en-US" smtClean="0"/>
              <a:t>11/1/23</a:t>
            </a:fld>
            <a:endParaRPr lang="en-US" dirty="0"/>
          </a:p>
        </p:txBody>
      </p:sp>
      <p:sp>
        <p:nvSpPr>
          <p:cNvPr id="5" name="Footer Placeholder 4">
            <a:extLst>
              <a:ext uri="{FF2B5EF4-FFF2-40B4-BE49-F238E27FC236}">
                <a16:creationId xmlns:a16="http://schemas.microsoft.com/office/drawing/2014/main" id="{3BF8CD88-A375-DCA7-A3D5-1FD0AC959BF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E915E4C-6DDF-86B8-70D2-2523D72B1412}"/>
              </a:ext>
            </a:extLst>
          </p:cNvPr>
          <p:cNvSpPr>
            <a:spLocks noGrp="1"/>
          </p:cNvSpPr>
          <p:nvPr>
            <p:ph type="sldNum" sz="quarter" idx="12"/>
          </p:nvPr>
        </p:nvSpPr>
        <p:spPr/>
        <p:txBody>
          <a:bodyPr/>
          <a:lstStyle/>
          <a:p>
            <a:fld id="{51845F5A-061D-4825-9AE9-D7794091C6CF}" type="slidenum">
              <a:rPr lang="en-US" smtClean="0"/>
              <a:t>‹#›</a:t>
            </a:fld>
            <a:endParaRPr lang="en-US" dirty="0"/>
          </a:p>
        </p:txBody>
      </p:sp>
    </p:spTree>
    <p:extLst>
      <p:ext uri="{BB962C8B-B14F-4D97-AF65-F5344CB8AC3E}">
        <p14:creationId xmlns:p14="http://schemas.microsoft.com/office/powerpoint/2010/main" val="13411343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04E684-10F4-4CC3-A0B9-F03AA7BE37CF}" type="datetimeFigureOut">
              <a:rPr lang="en-US" smtClean="0"/>
              <a:t>11/1/23</a:t>
            </a:fld>
            <a:endParaRPr lang="en-US" dirty="0"/>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845F5A-061D-4825-9AE9-D7794091C6CF}" type="slidenum">
              <a:rPr lang="en-US" smtClean="0"/>
              <a:t>‹#›</a:t>
            </a:fld>
            <a:endParaRPr lang="en-US" dirty="0"/>
          </a:p>
        </p:txBody>
      </p:sp>
    </p:spTree>
    <p:extLst>
      <p:ext uri="{BB962C8B-B14F-4D97-AF65-F5344CB8AC3E}">
        <p14:creationId xmlns:p14="http://schemas.microsoft.com/office/powerpoint/2010/main" val="3259306755"/>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87" r:id="rId5"/>
    <p:sldLayoutId id="2147483688" r:id="rId6"/>
    <p:sldLayoutId id="2147483694" r:id="rId7"/>
    <p:sldLayoutId id="2147483689" r:id="rId8"/>
    <p:sldLayoutId id="2147483690" r:id="rId9"/>
    <p:sldLayoutId id="2147483691" r:id="rId10"/>
    <p:sldLayoutId id="2147483692" r:id="rId11"/>
    <p:sldLayoutId id="2147483693" r:id="rId12"/>
  </p:sldLayoutIdLst>
  <p:txStyles>
    <p:titleStyle>
      <a:lvl1pPr algn="l" defTabSz="914400" rtl="0" eaLnBrk="1" latinLnBrk="0" hangingPunct="1">
        <a:lnSpc>
          <a:spcPct val="90000"/>
        </a:lnSpc>
        <a:spcBef>
          <a:spcPct val="0"/>
        </a:spcBef>
        <a:buNone/>
        <a:defRPr sz="4400" i="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5B5410-2658-9CBD-82DB-3AE06FE03F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CY"/>
          </a:p>
        </p:txBody>
      </p:sp>
      <p:sp>
        <p:nvSpPr>
          <p:cNvPr id="3" name="Text Placeholder 2">
            <a:extLst>
              <a:ext uri="{FF2B5EF4-FFF2-40B4-BE49-F238E27FC236}">
                <a16:creationId xmlns:a16="http://schemas.microsoft.com/office/drawing/2014/main" id="{B5CCEE43-923E-A99A-EE17-50DD67F01A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Y"/>
          </a:p>
        </p:txBody>
      </p:sp>
      <p:sp>
        <p:nvSpPr>
          <p:cNvPr id="4" name="Date Placeholder 3">
            <a:extLst>
              <a:ext uri="{FF2B5EF4-FFF2-40B4-BE49-F238E27FC236}">
                <a16:creationId xmlns:a16="http://schemas.microsoft.com/office/drawing/2014/main" id="{7577DF28-D815-7B2C-A0AD-4806D8F00B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04E684-10F4-4CC3-A0B9-F03AA7BE37CF}" type="datetimeFigureOut">
              <a:rPr lang="en-US" smtClean="0"/>
              <a:t>11/1/23</a:t>
            </a:fld>
            <a:endParaRPr lang="en-US" dirty="0"/>
          </a:p>
        </p:txBody>
      </p:sp>
      <p:sp>
        <p:nvSpPr>
          <p:cNvPr id="5" name="Footer Placeholder 4">
            <a:extLst>
              <a:ext uri="{FF2B5EF4-FFF2-40B4-BE49-F238E27FC236}">
                <a16:creationId xmlns:a16="http://schemas.microsoft.com/office/drawing/2014/main" id="{4561EBEB-912E-B22F-12DB-6AC7BD58CB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25F4D2C-85B1-7842-9263-F4275D4F5F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845F5A-061D-4825-9AE9-D7794091C6CF}" type="slidenum">
              <a:rPr lang="en-US" smtClean="0"/>
              <a:t>‹#›</a:t>
            </a:fld>
            <a:endParaRPr lang="en-US" dirty="0"/>
          </a:p>
        </p:txBody>
      </p:sp>
    </p:spTree>
    <p:extLst>
      <p:ext uri="{BB962C8B-B14F-4D97-AF65-F5344CB8AC3E}">
        <p14:creationId xmlns:p14="http://schemas.microsoft.com/office/powerpoint/2010/main" val="459115778"/>
      </p:ext>
    </p:extLst>
  </p:cSld>
  <p:clrMap bg1="lt1" tx1="dk1" bg2="lt2" tx2="dk2" accent1="accent1" accent2="accent2" accent3="accent3" accent4="accent4" accent5="accent5" accent6="accent6" hlink="hlink" folHlink="folHlink"/>
  <p:sldLayoutIdLst>
    <p:sldLayoutId id="2147483872" r:id="rId1"/>
    <p:sldLayoutId id="2147483873" r:id="rId2"/>
    <p:sldLayoutId id="2147483874" r:id="rId3"/>
    <p:sldLayoutId id="2147483875" r:id="rId4"/>
    <p:sldLayoutId id="2147483876" r:id="rId5"/>
    <p:sldLayoutId id="2147483877" r:id="rId6"/>
    <p:sldLayoutId id="2147483878" r:id="rId7"/>
    <p:sldLayoutId id="2147483879" r:id="rId8"/>
    <p:sldLayoutId id="2147483880" r:id="rId9"/>
    <p:sldLayoutId id="2147483881" r:id="rId10"/>
    <p:sldLayoutId id="214748388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d"/><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hyperlink" Target="https://pxhere.com/en/photo/1390114" TargetMode="Externa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6.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0.png"/><Relationship Id="rId1" Type="http://schemas.openxmlformats.org/officeDocument/2006/relationships/slideLayout" Target="../slideLayouts/slideLayout1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hyperlink" Target="https://enterprise.dji.com/matrice-300/specs" TargetMode="External"/><Relationship Id="rId7" Type="http://schemas.openxmlformats.org/officeDocument/2006/relationships/hyperlink" Target="https://dronesurveyservices.com/how-high-can-a-drone-fly/" TargetMode="External"/><Relationship Id="rId2" Type="http://schemas.openxmlformats.org/officeDocument/2006/relationships/hyperlink" Target="https://www.dji.com/matrice600-pro" TargetMode="External"/><Relationship Id="rId1" Type="http://schemas.openxmlformats.org/officeDocument/2006/relationships/slideLayout" Target="../slideLayouts/slideLayout14.xml"/><Relationship Id="rId6" Type="http://schemas.openxmlformats.org/officeDocument/2006/relationships/hyperlink" Target="https://www.tytorobotics.com/blogs/articles/what-is-an-esc-how-does-an-esc-work" TargetMode="External"/><Relationship Id="rId5" Type="http://schemas.openxmlformats.org/officeDocument/2006/relationships/hyperlink" Target="https://www.alltechuav.com/x6l15" TargetMode="External"/><Relationship Id="rId4" Type="http://schemas.openxmlformats.org/officeDocument/2006/relationships/hyperlink" Target="https://elbitsystems.com/media/LegionX_THOR-2-Web.pdf"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CAFB766-6EF3-C441-BC71-FECDC1206BD5}"/>
              </a:ext>
            </a:extLst>
          </p:cNvPr>
          <p:cNvSpPr>
            <a:spLocks noGrp="1"/>
          </p:cNvSpPr>
          <p:nvPr>
            <p:ph type="subTitle" idx="1"/>
          </p:nvPr>
        </p:nvSpPr>
        <p:spPr>
          <a:xfrm>
            <a:off x="148175" y="1748414"/>
            <a:ext cx="5947825" cy="4359624"/>
          </a:xfrm>
        </p:spPr>
        <p:txBody>
          <a:bodyPr>
            <a:normAutofit/>
          </a:bodyPr>
          <a:lstStyle/>
          <a:p>
            <a:r>
              <a:rPr lang="en-US" b="1" dirty="0">
                <a:effectLst/>
                <a:latin typeface="Times New Roman" panose="02020603050405020304" pitchFamily="18" charset="0"/>
                <a:ea typeface="Times New Roman" panose="02020603050405020304" pitchFamily="18" charset="0"/>
              </a:rPr>
              <a:t>INGENZI QUADICOPTER PRELIMINARY DESIGN WITH COAXIAL ROTORS</a:t>
            </a:r>
            <a:endParaRPr lang="en-CY" dirty="0">
              <a:effectLst/>
              <a:latin typeface="Times New Roman" panose="02020603050405020304" pitchFamily="18" charset="0"/>
              <a:ea typeface="Times New Roman" panose="02020603050405020304" pitchFamily="18" charset="0"/>
            </a:endParaRPr>
          </a:p>
          <a:p>
            <a:endParaRPr lang="en-US" b="1" dirty="0"/>
          </a:p>
        </p:txBody>
      </p:sp>
      <p:sp>
        <p:nvSpPr>
          <p:cNvPr id="5" name="AutoShape 2" descr="Helicopter Powerpoint">
            <a:extLst>
              <a:ext uri="{FF2B5EF4-FFF2-40B4-BE49-F238E27FC236}">
                <a16:creationId xmlns:a16="http://schemas.microsoft.com/office/drawing/2014/main" id="{20D2CAE5-4DB8-B84C-94F5-4214403137FA}"/>
              </a:ext>
            </a:extLst>
          </p:cNvPr>
          <p:cNvSpPr>
            <a:spLocks noChangeAspect="1" noChangeArrowheads="1"/>
          </p:cNvSpPr>
          <p:nvPr/>
        </p:nvSpPr>
        <p:spPr bwMode="auto">
          <a:xfrm>
            <a:off x="5943600" y="3276600"/>
            <a:ext cx="3048000" cy="3048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 name="TextBox 1">
            <a:extLst>
              <a:ext uri="{FF2B5EF4-FFF2-40B4-BE49-F238E27FC236}">
                <a16:creationId xmlns:a16="http://schemas.microsoft.com/office/drawing/2014/main" id="{02AF295D-11C8-17EB-F766-61870C52286A}"/>
              </a:ext>
            </a:extLst>
          </p:cNvPr>
          <p:cNvSpPr txBox="1"/>
          <p:nvPr/>
        </p:nvSpPr>
        <p:spPr>
          <a:xfrm>
            <a:off x="1416543" y="5349495"/>
            <a:ext cx="3288080" cy="369332"/>
          </a:xfrm>
          <a:prstGeom prst="rect">
            <a:avLst/>
          </a:prstGeom>
          <a:noFill/>
        </p:spPr>
        <p:txBody>
          <a:bodyPr wrap="none" rtlCol="0">
            <a:spAutoFit/>
          </a:bodyPr>
          <a:lstStyle/>
          <a:p>
            <a:r>
              <a:rPr lang="en-CY" b="1" dirty="0">
                <a:latin typeface="Times New Roman" panose="02020603050405020304" pitchFamily="18" charset="0"/>
                <a:cs typeface="Times New Roman" panose="02020603050405020304" pitchFamily="18" charset="0"/>
              </a:rPr>
              <a:t>AUBIN JOANES IGIRANEZA</a:t>
            </a:r>
          </a:p>
        </p:txBody>
      </p:sp>
      <p:pic>
        <p:nvPicPr>
          <p:cNvPr id="14" name="Picture 13">
            <a:extLst>
              <a:ext uri="{FF2B5EF4-FFF2-40B4-BE49-F238E27FC236}">
                <a16:creationId xmlns:a16="http://schemas.microsoft.com/office/drawing/2014/main" id="{C1FCC054-F32F-0265-FFD7-D0C140F1842B}"/>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6601326" y="1845327"/>
            <a:ext cx="5590674" cy="3873500"/>
          </a:xfrm>
          <a:prstGeom prst="rect">
            <a:avLst/>
          </a:prstGeom>
        </p:spPr>
      </p:pic>
      <p:sp>
        <p:nvSpPr>
          <p:cNvPr id="4" name="TextBox 3">
            <a:extLst>
              <a:ext uri="{FF2B5EF4-FFF2-40B4-BE49-F238E27FC236}">
                <a16:creationId xmlns:a16="http://schemas.microsoft.com/office/drawing/2014/main" id="{88FA26AD-F72E-1CD5-EFC1-0A3E664FB35D}"/>
              </a:ext>
            </a:extLst>
          </p:cNvPr>
          <p:cNvSpPr txBox="1"/>
          <p:nvPr/>
        </p:nvSpPr>
        <p:spPr>
          <a:xfrm>
            <a:off x="1620669" y="5738706"/>
            <a:ext cx="2879827" cy="369332"/>
          </a:xfrm>
          <a:prstGeom prst="rect">
            <a:avLst/>
          </a:prstGeom>
          <a:noFill/>
        </p:spPr>
        <p:txBody>
          <a:bodyPr wrap="none" rtlCol="0">
            <a:spAutoFit/>
          </a:bodyPr>
          <a:lstStyle/>
          <a:p>
            <a:r>
              <a:rPr lang="en-CY" b="1" dirty="0">
                <a:latin typeface="Times New Roman" panose="02020603050405020304" pitchFamily="18" charset="0"/>
                <a:cs typeface="Times New Roman" panose="02020603050405020304" pitchFamily="18" charset="0"/>
              </a:rPr>
              <a:t>AEROSPACE ENGINEER</a:t>
            </a:r>
          </a:p>
        </p:txBody>
      </p:sp>
    </p:spTree>
    <p:extLst>
      <p:ext uri="{BB962C8B-B14F-4D97-AF65-F5344CB8AC3E}">
        <p14:creationId xmlns:p14="http://schemas.microsoft.com/office/powerpoint/2010/main" val="3138779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70B8DDF-5C4E-43E1-A7EA-2CCB39F15CF5}"/>
              </a:ext>
            </a:extLst>
          </p:cNvPr>
          <p:cNvSpPr>
            <a:spLocks noGrp="1"/>
          </p:cNvSpPr>
          <p:nvPr>
            <p:ph type="title"/>
          </p:nvPr>
        </p:nvSpPr>
        <p:spPr>
          <a:xfrm>
            <a:off x="470731" y="365125"/>
            <a:ext cx="10515600" cy="1325563"/>
          </a:xfrm>
        </p:spPr>
        <p:txBody>
          <a:bodyPr>
            <a:normAutofit/>
          </a:bodyPr>
          <a:lstStyle/>
          <a:p>
            <a:pPr algn="ctr"/>
            <a:r>
              <a:rPr lang="tr-TR" sz="4800" b="1" dirty="0">
                <a:latin typeface="Times New Roman" panose="02020603050405020304" pitchFamily="18" charset="0"/>
                <a:cs typeface="Times New Roman" panose="02020603050405020304" pitchFamily="18" charset="0"/>
              </a:rPr>
              <a:t>Outline</a:t>
            </a:r>
            <a:endParaRPr lang="tr-TR" sz="7200" b="1" dirty="0">
              <a:latin typeface="Times New Roman" panose="02020603050405020304" pitchFamily="18" charset="0"/>
              <a:cs typeface="Times New Roman" panose="02020603050405020304" pitchFamily="18" charset="0"/>
            </a:endParaRPr>
          </a:p>
        </p:txBody>
      </p:sp>
      <p:graphicFrame>
        <p:nvGraphicFramePr>
          <p:cNvPr id="9" name="İçerik Yer Tutucusu 2">
            <a:extLst>
              <a:ext uri="{FF2B5EF4-FFF2-40B4-BE49-F238E27FC236}">
                <a16:creationId xmlns:a16="http://schemas.microsoft.com/office/drawing/2014/main" id="{C088A90B-5723-BCA2-68F9-C79F7314436E}"/>
              </a:ext>
            </a:extLst>
          </p:cNvPr>
          <p:cNvGraphicFramePr>
            <a:graphicFrameLocks noGrp="1"/>
          </p:cNvGraphicFramePr>
          <p:nvPr>
            <p:ph sz="half" idx="1"/>
            <p:extLst>
              <p:ext uri="{D42A27DB-BD31-4B8C-83A1-F6EECF244321}">
                <p14:modId xmlns:p14="http://schemas.microsoft.com/office/powerpoint/2010/main" val="1479281834"/>
              </p:ext>
            </p:extLst>
          </p:nvPr>
        </p:nvGraphicFramePr>
        <p:xfrm>
          <a:off x="2342260" y="1837766"/>
          <a:ext cx="6433068" cy="46551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331853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D32F0C1-2871-4873-9A02-6BAB348320A5}"/>
              </a:ext>
            </a:extLst>
          </p:cNvPr>
          <p:cNvSpPr>
            <a:spLocks noGrp="1"/>
          </p:cNvSpPr>
          <p:nvPr>
            <p:ph type="title"/>
          </p:nvPr>
        </p:nvSpPr>
        <p:spPr>
          <a:xfrm>
            <a:off x="4206781" y="395690"/>
            <a:ext cx="4023360" cy="570694"/>
          </a:xfrm>
        </p:spPr>
        <p:txBody>
          <a:bodyPr vert="horz" lIns="91440" tIns="45720" rIns="91440" bIns="45720" rtlCol="0" anchor="b">
            <a:noAutofit/>
          </a:bodyPr>
          <a:lstStyle/>
          <a:p>
            <a:pPr algn="ctr">
              <a:lnSpc>
                <a:spcPct val="90000"/>
              </a:lnSpc>
            </a:pPr>
            <a:br>
              <a:rPr lang="en-US" sz="4400"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Requirements</a:t>
            </a:r>
          </a:p>
        </p:txBody>
      </p:sp>
      <p:sp>
        <p:nvSpPr>
          <p:cNvPr id="5" name="Content Placeholder 4">
            <a:extLst>
              <a:ext uri="{FF2B5EF4-FFF2-40B4-BE49-F238E27FC236}">
                <a16:creationId xmlns:a16="http://schemas.microsoft.com/office/drawing/2014/main" id="{7F95C5A9-3291-9CEF-DDC1-6FE2EBDEDD20}"/>
              </a:ext>
            </a:extLst>
          </p:cNvPr>
          <p:cNvSpPr>
            <a:spLocks noGrp="1"/>
          </p:cNvSpPr>
          <p:nvPr>
            <p:ph sz="half" idx="1"/>
          </p:nvPr>
        </p:nvSpPr>
        <p:spPr/>
        <p:txBody>
          <a:bodyPr/>
          <a:lstStyle/>
          <a:p>
            <a:pPr marL="342900" lvl="0" indent="-342900">
              <a:buFont typeface="Symbol" pitchFamily="2" charset="2"/>
              <a:buChar char=""/>
            </a:pPr>
            <a:r>
              <a:rPr lang="en-US" sz="2000" dirty="0">
                <a:effectLst/>
                <a:latin typeface="Times New Roman" panose="02020603050405020304" pitchFamily="18" charset="0"/>
                <a:ea typeface="Times New Roman" panose="02020603050405020304" pitchFamily="18" charset="0"/>
              </a:rPr>
              <a:t>Mission: Last Mile Delivery </a:t>
            </a:r>
            <a:endParaRPr lang="en-CY" sz="2000" dirty="0">
              <a:effectLst/>
              <a:latin typeface="Times New Roman" panose="02020603050405020304" pitchFamily="18" charset="0"/>
              <a:ea typeface="Times New Roman" panose="02020603050405020304" pitchFamily="18" charset="0"/>
            </a:endParaRPr>
          </a:p>
          <a:p>
            <a:pPr marL="342900" lvl="0" indent="-342900">
              <a:buFont typeface="Symbol" pitchFamily="2" charset="2"/>
              <a:buChar char=""/>
            </a:pPr>
            <a:r>
              <a:rPr lang="en-US" sz="2000" dirty="0">
                <a:latin typeface="Times New Roman" panose="02020603050405020304" pitchFamily="18" charset="0"/>
                <a:ea typeface="Times New Roman" panose="02020603050405020304" pitchFamily="18" charset="0"/>
              </a:rPr>
              <a:t>Maximum Takeoff  Weight</a:t>
            </a:r>
            <a:r>
              <a:rPr lang="en-US" sz="2000" dirty="0">
                <a:effectLst/>
                <a:latin typeface="Times New Roman" panose="02020603050405020304" pitchFamily="18" charset="0"/>
                <a:ea typeface="Times New Roman" panose="02020603050405020304" pitchFamily="18" charset="0"/>
              </a:rPr>
              <a:t>: 14 Kg</a:t>
            </a:r>
            <a:endParaRPr lang="en-CY" sz="2000" dirty="0">
              <a:effectLst/>
              <a:latin typeface="Times New Roman" panose="02020603050405020304" pitchFamily="18" charset="0"/>
              <a:ea typeface="Times New Roman" panose="02020603050405020304" pitchFamily="18" charset="0"/>
            </a:endParaRPr>
          </a:p>
          <a:p>
            <a:pPr marL="342900" lvl="0" indent="-342900">
              <a:buFont typeface="Symbol" pitchFamily="2" charset="2"/>
              <a:buChar char=""/>
            </a:pPr>
            <a:r>
              <a:rPr lang="en-US" sz="2000" dirty="0">
                <a:effectLst/>
                <a:latin typeface="Times New Roman" panose="02020603050405020304" pitchFamily="18" charset="0"/>
                <a:ea typeface="Times New Roman" panose="02020603050405020304" pitchFamily="18" charset="0"/>
              </a:rPr>
              <a:t>Communication range: 5 Km</a:t>
            </a:r>
            <a:endParaRPr lang="en-CY" sz="2000" dirty="0">
              <a:effectLst/>
              <a:latin typeface="Times New Roman" panose="02020603050405020304" pitchFamily="18" charset="0"/>
              <a:ea typeface="Times New Roman" panose="02020603050405020304" pitchFamily="18" charset="0"/>
            </a:endParaRPr>
          </a:p>
          <a:p>
            <a:pPr marL="342900" lvl="0" indent="-342900">
              <a:buFont typeface="Symbol" pitchFamily="2" charset="2"/>
              <a:buChar char=""/>
            </a:pPr>
            <a:r>
              <a:rPr lang="en-US" sz="2000" dirty="0">
                <a:effectLst/>
                <a:latin typeface="Times New Roman" panose="02020603050405020304" pitchFamily="18" charset="0"/>
                <a:ea typeface="Times New Roman" panose="02020603050405020304" pitchFamily="18" charset="0"/>
              </a:rPr>
              <a:t>Endurance: 30 min</a:t>
            </a:r>
            <a:endParaRPr lang="en-CY" sz="2000" dirty="0">
              <a:effectLst/>
              <a:latin typeface="Times New Roman" panose="02020603050405020304" pitchFamily="18" charset="0"/>
              <a:ea typeface="Times New Roman" panose="02020603050405020304" pitchFamily="18" charset="0"/>
            </a:endParaRPr>
          </a:p>
          <a:p>
            <a:endParaRPr lang="en-CY" dirty="0"/>
          </a:p>
        </p:txBody>
      </p:sp>
      <p:sp>
        <p:nvSpPr>
          <p:cNvPr id="8" name="TextBox 7">
            <a:extLst>
              <a:ext uri="{FF2B5EF4-FFF2-40B4-BE49-F238E27FC236}">
                <a16:creationId xmlns:a16="http://schemas.microsoft.com/office/drawing/2014/main" id="{6FFC375D-9ED8-1158-DE12-46B0593BA53E}"/>
              </a:ext>
            </a:extLst>
          </p:cNvPr>
          <p:cNvSpPr txBox="1"/>
          <p:nvPr/>
        </p:nvSpPr>
        <p:spPr>
          <a:xfrm>
            <a:off x="1507958" y="1211338"/>
            <a:ext cx="6096000" cy="400110"/>
          </a:xfrm>
          <a:prstGeom prst="rect">
            <a:avLst/>
          </a:prstGeom>
          <a:noFill/>
        </p:spPr>
        <p:txBody>
          <a:bodyPr wrap="square">
            <a:spAutoFit/>
          </a:bodyPr>
          <a:lstStyle/>
          <a:p>
            <a:r>
              <a:rPr lang="en-US" sz="2000" b="1" dirty="0">
                <a:effectLst/>
                <a:latin typeface="Times New Roman" panose="02020603050405020304" pitchFamily="18" charset="0"/>
                <a:ea typeface="Times New Roman" panose="02020603050405020304" pitchFamily="18" charset="0"/>
              </a:rPr>
              <a:t>Minimum requirement </a:t>
            </a:r>
            <a:endParaRPr lang="en-CY" sz="2000" dirty="0">
              <a:effectLst/>
              <a:latin typeface="Times New Roman" panose="02020603050405020304" pitchFamily="18" charset="0"/>
              <a:ea typeface="Times New Roman" panose="02020603050405020304" pitchFamily="18" charset="0"/>
            </a:endParaRPr>
          </a:p>
        </p:txBody>
      </p:sp>
      <p:sp>
        <p:nvSpPr>
          <p:cNvPr id="10" name="TextBox 9">
            <a:extLst>
              <a:ext uri="{FF2B5EF4-FFF2-40B4-BE49-F238E27FC236}">
                <a16:creationId xmlns:a16="http://schemas.microsoft.com/office/drawing/2014/main" id="{BCB63FBD-E164-8A1F-0824-8D8D40CB4E5F}"/>
              </a:ext>
            </a:extLst>
          </p:cNvPr>
          <p:cNvSpPr txBox="1"/>
          <p:nvPr/>
        </p:nvSpPr>
        <p:spPr>
          <a:xfrm>
            <a:off x="1507958" y="3740901"/>
            <a:ext cx="6096000" cy="400110"/>
          </a:xfrm>
          <a:prstGeom prst="rect">
            <a:avLst/>
          </a:prstGeom>
          <a:noFill/>
        </p:spPr>
        <p:txBody>
          <a:bodyPr wrap="square">
            <a:spAutoFit/>
          </a:bodyPr>
          <a:lstStyle/>
          <a:p>
            <a:r>
              <a:rPr lang="en-US" sz="2000" b="1" dirty="0">
                <a:effectLst/>
                <a:latin typeface="Times New Roman" panose="02020603050405020304" pitchFamily="18" charset="0"/>
                <a:ea typeface="Times New Roman" panose="02020603050405020304" pitchFamily="18" charset="0"/>
              </a:rPr>
              <a:t>Additional requirement </a:t>
            </a:r>
            <a:endParaRPr lang="en-CY" sz="2000" dirty="0">
              <a:effectLst/>
              <a:latin typeface="Times New Roman" panose="02020603050405020304" pitchFamily="18" charset="0"/>
              <a:ea typeface="Times New Roman" panose="02020603050405020304" pitchFamily="18" charset="0"/>
            </a:endParaRPr>
          </a:p>
        </p:txBody>
      </p:sp>
      <p:sp>
        <p:nvSpPr>
          <p:cNvPr id="12" name="TextBox 11">
            <a:extLst>
              <a:ext uri="{FF2B5EF4-FFF2-40B4-BE49-F238E27FC236}">
                <a16:creationId xmlns:a16="http://schemas.microsoft.com/office/drawing/2014/main" id="{022C6E30-8D2E-C459-985F-984062C72544}"/>
              </a:ext>
            </a:extLst>
          </p:cNvPr>
          <p:cNvSpPr txBox="1"/>
          <p:nvPr/>
        </p:nvSpPr>
        <p:spPr>
          <a:xfrm>
            <a:off x="838200" y="4448154"/>
            <a:ext cx="6096000" cy="1323439"/>
          </a:xfrm>
          <a:prstGeom prst="rect">
            <a:avLst/>
          </a:prstGeom>
          <a:noFill/>
        </p:spPr>
        <p:txBody>
          <a:bodyPr wrap="square">
            <a:spAutoFit/>
          </a:bodyPr>
          <a:lstStyle/>
          <a:p>
            <a:pPr marL="342900" lvl="0" indent="-342900">
              <a:buSzPts val="1000"/>
              <a:buFont typeface="Symbol" pitchFamily="2" charset="2"/>
              <a:buChar char=""/>
              <a:tabLst>
                <a:tab pos="457200" algn="l"/>
              </a:tabLst>
            </a:pPr>
            <a:r>
              <a:rPr lang="en-CY" sz="2000" dirty="0">
                <a:effectLst/>
                <a:latin typeface="TimesNewRomanPSMT"/>
                <a:ea typeface="Times New Roman" panose="02020603050405020304" pitchFamily="18" charset="0"/>
              </a:rPr>
              <a:t>Configuration: </a:t>
            </a:r>
            <a:r>
              <a:rPr lang="en-US" sz="2000" dirty="0">
                <a:effectLst/>
                <a:latin typeface="TimesNewRomanPSMT"/>
                <a:ea typeface="Times New Roman" panose="02020603050405020304" pitchFamily="18" charset="0"/>
              </a:rPr>
              <a:t>Multirotor UAV</a:t>
            </a:r>
            <a:endParaRPr lang="en-CY" sz="2000" dirty="0">
              <a:effectLst/>
              <a:latin typeface="Times New Roman" panose="02020603050405020304" pitchFamily="18" charset="0"/>
              <a:ea typeface="Times New Roman" panose="02020603050405020304" pitchFamily="18" charset="0"/>
            </a:endParaRPr>
          </a:p>
          <a:p>
            <a:pPr marL="342900" lvl="0" indent="-342900">
              <a:buSzPts val="1000"/>
              <a:buFont typeface="Symbol" pitchFamily="2" charset="2"/>
              <a:buChar char=""/>
              <a:tabLst>
                <a:tab pos="457200" algn="l"/>
              </a:tabLst>
            </a:pPr>
            <a:r>
              <a:rPr lang="en-CY" sz="2000" dirty="0">
                <a:effectLst/>
                <a:latin typeface="TimesNewRomanPSMT"/>
                <a:ea typeface="Times New Roman" panose="02020603050405020304" pitchFamily="18" charset="0"/>
              </a:rPr>
              <a:t>Landing Gear:  standard</a:t>
            </a:r>
            <a:endParaRPr lang="en-CY" sz="2000" dirty="0">
              <a:effectLst/>
              <a:latin typeface="Times New Roman" panose="02020603050405020304" pitchFamily="18" charset="0"/>
              <a:ea typeface="Times New Roman" panose="02020603050405020304" pitchFamily="18" charset="0"/>
            </a:endParaRPr>
          </a:p>
          <a:p>
            <a:pPr marL="342900" lvl="0" indent="-342900">
              <a:buSzPts val="1000"/>
              <a:buFont typeface="Symbol" pitchFamily="2" charset="2"/>
              <a:buChar char=""/>
              <a:tabLst>
                <a:tab pos="457200" algn="l"/>
              </a:tabLst>
            </a:pPr>
            <a:r>
              <a:rPr lang="en-CY" sz="2000" dirty="0">
                <a:effectLst/>
                <a:latin typeface="TimesNewRomanPSMT"/>
                <a:ea typeface="Times New Roman" panose="02020603050405020304" pitchFamily="18" charset="0"/>
              </a:rPr>
              <a:t>City of Operation: </a:t>
            </a:r>
            <a:r>
              <a:rPr lang="en-US" sz="2000" dirty="0">
                <a:effectLst/>
                <a:latin typeface="TimesNewRomanPSMT"/>
                <a:ea typeface="Times New Roman" panose="02020603050405020304" pitchFamily="18" charset="0"/>
              </a:rPr>
              <a:t>Kigali, Rwanda</a:t>
            </a:r>
            <a:endParaRPr lang="en-CY" sz="2000" dirty="0">
              <a:effectLst/>
              <a:latin typeface="Times New Roman" panose="02020603050405020304" pitchFamily="18" charset="0"/>
              <a:ea typeface="Times New Roman" panose="02020603050405020304" pitchFamily="18" charset="0"/>
            </a:endParaRPr>
          </a:p>
          <a:p>
            <a:pPr marL="342900" lvl="0" indent="-342900">
              <a:buSzPts val="1000"/>
              <a:buFont typeface="Symbol" pitchFamily="2" charset="2"/>
              <a:buChar char=""/>
              <a:tabLst>
                <a:tab pos="457200" algn="l"/>
              </a:tabLst>
            </a:pPr>
            <a:r>
              <a:rPr lang="en-CY" sz="2000" dirty="0">
                <a:effectLst/>
                <a:latin typeface="TimesNewRomanPSMT"/>
                <a:ea typeface="Times New Roman" panose="02020603050405020304" pitchFamily="18" charset="0"/>
              </a:rPr>
              <a:t>Stable and Safe </a:t>
            </a:r>
            <a:endParaRPr lang="en-CY"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520086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BFC66597-7C56-5391-33A2-D52DE383214B}"/>
              </a:ext>
            </a:extLst>
          </p:cNvPr>
          <p:cNvGraphicFramePr>
            <a:graphicFrameLocks noGrp="1"/>
          </p:cNvGraphicFramePr>
          <p:nvPr>
            <p:extLst>
              <p:ext uri="{D42A27DB-BD31-4B8C-83A1-F6EECF244321}">
                <p14:modId xmlns:p14="http://schemas.microsoft.com/office/powerpoint/2010/main" val="2817552665"/>
              </p:ext>
            </p:extLst>
          </p:nvPr>
        </p:nvGraphicFramePr>
        <p:xfrm>
          <a:off x="115747" y="454003"/>
          <a:ext cx="11956648" cy="6269356"/>
        </p:xfrm>
        <a:graphic>
          <a:graphicData uri="http://schemas.openxmlformats.org/drawingml/2006/table">
            <a:tbl>
              <a:tblPr firstRow="1" firstCol="1" bandRow="1">
                <a:tableStyleId>{72833802-FEF1-4C79-8D5D-14CF1EAF98D9}</a:tableStyleId>
              </a:tblPr>
              <a:tblGrid>
                <a:gridCol w="1413376">
                  <a:extLst>
                    <a:ext uri="{9D8B030D-6E8A-4147-A177-3AD203B41FA5}">
                      <a16:colId xmlns:a16="http://schemas.microsoft.com/office/drawing/2014/main" val="2646975882"/>
                    </a:ext>
                  </a:extLst>
                </a:gridCol>
                <a:gridCol w="1094807">
                  <a:extLst>
                    <a:ext uri="{9D8B030D-6E8A-4147-A177-3AD203B41FA5}">
                      <a16:colId xmlns:a16="http://schemas.microsoft.com/office/drawing/2014/main" val="3595538084"/>
                    </a:ext>
                  </a:extLst>
                </a:gridCol>
                <a:gridCol w="1093305">
                  <a:extLst>
                    <a:ext uri="{9D8B030D-6E8A-4147-A177-3AD203B41FA5}">
                      <a16:colId xmlns:a16="http://schemas.microsoft.com/office/drawing/2014/main" val="2683659115"/>
                    </a:ext>
                  </a:extLst>
                </a:gridCol>
                <a:gridCol w="1470991">
                  <a:extLst>
                    <a:ext uri="{9D8B030D-6E8A-4147-A177-3AD203B41FA5}">
                      <a16:colId xmlns:a16="http://schemas.microsoft.com/office/drawing/2014/main" val="2393135099"/>
                    </a:ext>
                  </a:extLst>
                </a:gridCol>
                <a:gridCol w="1232452">
                  <a:extLst>
                    <a:ext uri="{9D8B030D-6E8A-4147-A177-3AD203B41FA5}">
                      <a16:colId xmlns:a16="http://schemas.microsoft.com/office/drawing/2014/main" val="2616481722"/>
                    </a:ext>
                  </a:extLst>
                </a:gridCol>
                <a:gridCol w="1272209">
                  <a:extLst>
                    <a:ext uri="{9D8B030D-6E8A-4147-A177-3AD203B41FA5}">
                      <a16:colId xmlns:a16="http://schemas.microsoft.com/office/drawing/2014/main" val="2890475244"/>
                    </a:ext>
                  </a:extLst>
                </a:gridCol>
                <a:gridCol w="907771">
                  <a:extLst>
                    <a:ext uri="{9D8B030D-6E8A-4147-A177-3AD203B41FA5}">
                      <a16:colId xmlns:a16="http://schemas.microsoft.com/office/drawing/2014/main" val="3842334305"/>
                    </a:ext>
                  </a:extLst>
                </a:gridCol>
                <a:gridCol w="1000542">
                  <a:extLst>
                    <a:ext uri="{9D8B030D-6E8A-4147-A177-3AD203B41FA5}">
                      <a16:colId xmlns:a16="http://schemas.microsoft.com/office/drawing/2014/main" val="2580755233"/>
                    </a:ext>
                  </a:extLst>
                </a:gridCol>
                <a:gridCol w="1192696">
                  <a:extLst>
                    <a:ext uri="{9D8B030D-6E8A-4147-A177-3AD203B41FA5}">
                      <a16:colId xmlns:a16="http://schemas.microsoft.com/office/drawing/2014/main" val="1462915917"/>
                    </a:ext>
                  </a:extLst>
                </a:gridCol>
                <a:gridCol w="1278499">
                  <a:extLst>
                    <a:ext uri="{9D8B030D-6E8A-4147-A177-3AD203B41FA5}">
                      <a16:colId xmlns:a16="http://schemas.microsoft.com/office/drawing/2014/main" val="1741835069"/>
                    </a:ext>
                  </a:extLst>
                </a:gridCol>
              </a:tblGrid>
              <a:tr h="586571">
                <a:tc>
                  <a:txBody>
                    <a:bodyPr/>
                    <a:lstStyle/>
                    <a:p>
                      <a:pPr algn="l"/>
                      <a:r>
                        <a:rPr lang="en-US" sz="1200" b="1" kern="100" dirty="0">
                          <a:solidFill>
                            <a:schemeClr val="tx1"/>
                          </a:solidFill>
                          <a:effectLst/>
                        </a:rPr>
                        <a:t>UAV</a:t>
                      </a:r>
                      <a:endParaRPr lang="en-CY" sz="12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200" b="1" kern="100" dirty="0">
                          <a:solidFill>
                            <a:schemeClr val="tx1"/>
                          </a:solidFill>
                          <a:effectLst/>
                        </a:rPr>
                        <a:t>Diagonal wheelbase</a:t>
                      </a:r>
                      <a:endParaRPr lang="en-CY" sz="12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200" b="1" kern="100" dirty="0">
                          <a:solidFill>
                            <a:schemeClr val="tx1"/>
                          </a:solidFill>
                          <a:effectLst/>
                        </a:rPr>
                        <a:t>Maximum takeoff weight</a:t>
                      </a:r>
                      <a:endParaRPr lang="en-CY" sz="12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l"/>
                      <a:r>
                        <a:rPr lang="en-US" sz="1200" b="1" kern="100" dirty="0">
                          <a:solidFill>
                            <a:schemeClr val="tx1"/>
                          </a:solidFill>
                          <a:effectLst/>
                        </a:rPr>
                        <a:t>Max Altitude</a:t>
                      </a:r>
                      <a:endParaRPr lang="en-CY" sz="12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CY"/>
                    </a:p>
                  </a:txBody>
                  <a:tcPr/>
                </a:tc>
                <a:tc>
                  <a:txBody>
                    <a:bodyPr/>
                    <a:lstStyle/>
                    <a:p>
                      <a:pPr algn="l"/>
                      <a:r>
                        <a:rPr lang="en-US" sz="1200" b="1" kern="100" dirty="0">
                          <a:solidFill>
                            <a:schemeClr val="tx1"/>
                          </a:solidFill>
                          <a:effectLst/>
                        </a:rPr>
                        <a:t>Hovering time</a:t>
                      </a:r>
                      <a:endParaRPr lang="en-CY" sz="12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l"/>
                      <a:r>
                        <a:rPr lang="en-US" sz="1200" b="1" kern="100" dirty="0">
                          <a:solidFill>
                            <a:schemeClr val="tx1"/>
                          </a:solidFill>
                          <a:effectLst/>
                        </a:rPr>
                        <a:t>Propulsion system</a:t>
                      </a:r>
                      <a:endParaRPr lang="en-CY" sz="12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CY"/>
                    </a:p>
                  </a:txBody>
                  <a:tcPr/>
                </a:tc>
                <a:tc>
                  <a:txBody>
                    <a:bodyPr/>
                    <a:lstStyle/>
                    <a:p>
                      <a:pPr algn="l"/>
                      <a:r>
                        <a:rPr lang="en-US" sz="1200" b="1" kern="100" dirty="0">
                          <a:solidFill>
                            <a:schemeClr val="tx1"/>
                          </a:solidFill>
                          <a:effectLst/>
                        </a:rPr>
                        <a:t> communication range</a:t>
                      </a:r>
                      <a:endParaRPr lang="en-CY" sz="12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200" b="1" kern="100" dirty="0">
                          <a:solidFill>
                            <a:schemeClr val="tx1"/>
                          </a:solidFill>
                          <a:effectLst/>
                        </a:rPr>
                        <a:t>Battery</a:t>
                      </a:r>
                      <a:endParaRPr lang="en-CY" sz="12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12448"/>
                  </a:ext>
                </a:extLst>
              </a:tr>
              <a:tr h="1542101">
                <a:tc>
                  <a:txBody>
                    <a:bodyPr/>
                    <a:lstStyle/>
                    <a:p>
                      <a:pPr algn="l"/>
                      <a:r>
                        <a:rPr lang="en-US" sz="1200" b="1" kern="100" dirty="0">
                          <a:solidFill>
                            <a:schemeClr val="tx1"/>
                          </a:solidFill>
                          <a:effectLst/>
                        </a:rPr>
                        <a:t>DJI </a:t>
                      </a:r>
                      <a:r>
                        <a:rPr lang="en-US" sz="1200" b="1" kern="100" dirty="0" err="1">
                          <a:solidFill>
                            <a:schemeClr val="tx1"/>
                          </a:solidFill>
                          <a:effectLst/>
                        </a:rPr>
                        <a:t>Matrice</a:t>
                      </a:r>
                      <a:r>
                        <a:rPr lang="en-US" sz="1200" b="1" kern="100" dirty="0">
                          <a:solidFill>
                            <a:schemeClr val="tx1"/>
                          </a:solidFill>
                          <a:effectLst/>
                        </a:rPr>
                        <a:t> 600 Pro</a:t>
                      </a:r>
                      <a:endParaRPr lang="en-CY" sz="1200" b="1" kern="100" dirty="0">
                        <a:solidFill>
                          <a:schemeClr val="tx1"/>
                        </a:solidFill>
                        <a:effectLst/>
                      </a:endParaRPr>
                    </a:p>
                    <a:p>
                      <a:pPr algn="l"/>
                      <a:r>
                        <a:rPr lang="en-CY" sz="1200" b="1" kern="100" dirty="0">
                          <a:solidFill>
                            <a:schemeClr val="tx1"/>
                          </a:solidFill>
                          <a:effectLst/>
                        </a:rPr>
                        <a:t> </a:t>
                      </a:r>
                      <a:endParaRPr lang="en-CY" sz="12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US" sz="1200" kern="100" dirty="0">
                        <a:solidFill>
                          <a:schemeClr val="tx1"/>
                        </a:solidFill>
                        <a:effectLst/>
                      </a:endParaRPr>
                    </a:p>
                    <a:p>
                      <a:pPr algn="l"/>
                      <a:endParaRPr lang="en-US" sz="1200" kern="100" dirty="0">
                        <a:solidFill>
                          <a:schemeClr val="tx1"/>
                        </a:solidFill>
                        <a:effectLst/>
                      </a:endParaRPr>
                    </a:p>
                    <a:p>
                      <a:pPr algn="l"/>
                      <a:r>
                        <a:rPr lang="en-US" sz="1200" kern="100" dirty="0">
                          <a:solidFill>
                            <a:schemeClr val="tx1"/>
                          </a:solidFill>
                          <a:effectLst/>
                        </a:rPr>
                        <a:t>1133mm</a:t>
                      </a:r>
                      <a:endParaRPr lang="en-CY"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US" sz="1200" kern="100" dirty="0">
                        <a:solidFill>
                          <a:schemeClr val="tx1"/>
                        </a:solidFill>
                        <a:effectLst/>
                      </a:endParaRPr>
                    </a:p>
                    <a:p>
                      <a:pPr algn="l"/>
                      <a:endParaRPr lang="en-US" sz="1200" kern="100" dirty="0">
                        <a:solidFill>
                          <a:schemeClr val="tx1"/>
                        </a:solidFill>
                        <a:effectLst/>
                      </a:endParaRPr>
                    </a:p>
                    <a:p>
                      <a:pPr algn="l"/>
                      <a:r>
                        <a:rPr lang="en-US" sz="1200" kern="100" dirty="0">
                          <a:solidFill>
                            <a:schemeClr val="tx1"/>
                          </a:solidFill>
                          <a:effectLst/>
                        </a:rPr>
                        <a:t>15.5 kg</a:t>
                      </a:r>
                      <a:endParaRPr lang="en-CY"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CY" sz="1200" kern="100" dirty="0">
                        <a:solidFill>
                          <a:schemeClr val="tx1"/>
                        </a:solidFill>
                        <a:effectLst/>
                      </a:endParaRPr>
                    </a:p>
                    <a:p>
                      <a:pPr algn="l"/>
                      <a:endParaRPr lang="en-CY" sz="1200" kern="100" dirty="0">
                        <a:solidFill>
                          <a:schemeClr val="tx1"/>
                        </a:solidFill>
                        <a:effectLst/>
                      </a:endParaRPr>
                    </a:p>
                    <a:p>
                      <a:pPr algn="l"/>
                      <a:r>
                        <a:rPr lang="en-CY" sz="1400" kern="100" dirty="0">
                          <a:solidFill>
                            <a:schemeClr val="tx1"/>
                          </a:solidFill>
                          <a:effectLst/>
                        </a:rPr>
                        <a:t>2170R propellers: 2500 </a:t>
                      </a:r>
                      <a:r>
                        <a:rPr lang="en-US" sz="1400" kern="100" dirty="0">
                          <a:solidFill>
                            <a:schemeClr val="tx1"/>
                          </a:solidFill>
                          <a:effectLst/>
                        </a:rPr>
                        <a:t>m</a:t>
                      </a:r>
                      <a:endParaRPr lang="en-CY" sz="1400" kern="100" dirty="0">
                        <a:solidFill>
                          <a:schemeClr val="tx1"/>
                        </a:solidFill>
                        <a:effectLst/>
                      </a:endParaRPr>
                    </a:p>
                    <a:p>
                      <a:pPr algn="l"/>
                      <a:r>
                        <a:rPr lang="en-CY" sz="1200" kern="100" dirty="0">
                          <a:solidFill>
                            <a:schemeClr val="tx1"/>
                          </a:solidFill>
                          <a:effectLst/>
                        </a:rPr>
                        <a:t> </a:t>
                      </a:r>
                      <a:endParaRPr lang="en-CY"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CY" sz="1200" kern="100" dirty="0">
                        <a:solidFill>
                          <a:schemeClr val="tx1"/>
                        </a:solidFill>
                        <a:effectLst/>
                      </a:endParaRPr>
                    </a:p>
                    <a:p>
                      <a:pPr algn="l"/>
                      <a:endParaRPr lang="en-CY" sz="1200" kern="100" dirty="0">
                        <a:solidFill>
                          <a:schemeClr val="tx1"/>
                        </a:solidFill>
                        <a:effectLst/>
                      </a:endParaRPr>
                    </a:p>
                    <a:p>
                      <a:pPr algn="l"/>
                      <a:r>
                        <a:rPr lang="en-CY" sz="1200" kern="100" dirty="0">
                          <a:solidFill>
                            <a:schemeClr val="tx1"/>
                          </a:solidFill>
                          <a:effectLst/>
                        </a:rPr>
                        <a:t>2195 propellers: 4500 m </a:t>
                      </a:r>
                    </a:p>
                    <a:p>
                      <a:pPr algn="l"/>
                      <a:r>
                        <a:rPr lang="en-CY" sz="1200" kern="100" dirty="0">
                          <a:solidFill>
                            <a:schemeClr val="tx1"/>
                          </a:solidFill>
                          <a:effectLst/>
                        </a:rPr>
                        <a:t> </a:t>
                      </a:r>
                      <a:endParaRPr lang="en-CY"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CY" sz="1200" kern="100" dirty="0">
                        <a:solidFill>
                          <a:schemeClr val="tx1"/>
                        </a:solidFill>
                        <a:effectLst/>
                      </a:endParaRPr>
                    </a:p>
                    <a:p>
                      <a:pPr algn="l"/>
                      <a:endParaRPr lang="en-CY" sz="1200" kern="100" dirty="0">
                        <a:solidFill>
                          <a:schemeClr val="tx1"/>
                        </a:solidFill>
                        <a:effectLst/>
                      </a:endParaRPr>
                    </a:p>
                    <a:p>
                      <a:pPr algn="l"/>
                      <a:r>
                        <a:rPr lang="en-CY" sz="1200" kern="100" dirty="0">
                          <a:solidFill>
                            <a:schemeClr val="tx1"/>
                          </a:solidFill>
                          <a:effectLst/>
                        </a:rPr>
                        <a:t>No payload: 32 min, 6 kg payload: 16 min</a:t>
                      </a:r>
                    </a:p>
                    <a:p>
                      <a:pPr algn="l"/>
                      <a:r>
                        <a:rPr lang="en-CY" sz="1200" kern="100" dirty="0">
                          <a:solidFill>
                            <a:schemeClr val="tx1"/>
                          </a:solidFill>
                          <a:effectLst/>
                        </a:rPr>
                        <a:t> </a:t>
                      </a:r>
                      <a:endParaRPr lang="en-CY"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CY" sz="1200" kern="100" dirty="0">
                        <a:solidFill>
                          <a:schemeClr val="tx1"/>
                        </a:solidFill>
                        <a:effectLst/>
                      </a:endParaRPr>
                    </a:p>
                    <a:p>
                      <a:pPr algn="l"/>
                      <a:endParaRPr lang="en-CY" sz="1200" kern="100" dirty="0">
                        <a:solidFill>
                          <a:schemeClr val="tx1"/>
                        </a:solidFill>
                        <a:effectLst/>
                      </a:endParaRPr>
                    </a:p>
                    <a:p>
                      <a:pPr algn="l"/>
                      <a:r>
                        <a:rPr lang="en-CY" sz="1200" kern="100" dirty="0">
                          <a:solidFill>
                            <a:schemeClr val="tx1"/>
                          </a:solidFill>
                          <a:effectLst/>
                        </a:rPr>
                        <a:t>Motor model: DJI 6010 </a:t>
                      </a:r>
                    </a:p>
                    <a:p>
                      <a:pPr algn="l"/>
                      <a:r>
                        <a:rPr lang="en-CY" sz="1200" kern="100" dirty="0">
                          <a:solidFill>
                            <a:schemeClr val="tx1"/>
                          </a:solidFill>
                          <a:effectLst/>
                        </a:rPr>
                        <a:t> </a:t>
                      </a:r>
                      <a:endParaRPr lang="en-CY"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US" sz="1200" kern="100" dirty="0">
                        <a:solidFill>
                          <a:schemeClr val="tx1"/>
                        </a:solidFill>
                        <a:effectLst/>
                      </a:endParaRPr>
                    </a:p>
                    <a:p>
                      <a:pPr algn="l"/>
                      <a:endParaRPr lang="en-US" sz="1200" kern="100" dirty="0">
                        <a:solidFill>
                          <a:schemeClr val="tx1"/>
                        </a:solidFill>
                        <a:effectLst/>
                      </a:endParaRPr>
                    </a:p>
                    <a:p>
                      <a:pPr algn="l"/>
                      <a:r>
                        <a:rPr lang="en-US" sz="1200" kern="100" dirty="0">
                          <a:solidFill>
                            <a:schemeClr val="tx1"/>
                          </a:solidFill>
                          <a:effectLst/>
                        </a:rPr>
                        <a:t>p</a:t>
                      </a:r>
                      <a:r>
                        <a:rPr lang="en-CY" sz="1200" kern="100" dirty="0">
                          <a:solidFill>
                            <a:schemeClr val="tx1"/>
                          </a:solidFill>
                          <a:effectLst/>
                        </a:rPr>
                        <a:t>ropeller model: DJI 2170R</a:t>
                      </a:r>
                    </a:p>
                    <a:p>
                      <a:pPr algn="l"/>
                      <a:r>
                        <a:rPr lang="en-CY" sz="1200" kern="100" dirty="0">
                          <a:solidFill>
                            <a:schemeClr val="tx1"/>
                          </a:solidFill>
                          <a:effectLst/>
                        </a:rPr>
                        <a:t> </a:t>
                      </a:r>
                      <a:endParaRPr lang="en-CY"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CY" sz="1200" kern="100" dirty="0">
                        <a:solidFill>
                          <a:schemeClr val="tx1"/>
                        </a:solidFill>
                        <a:effectLst/>
                      </a:endParaRPr>
                    </a:p>
                    <a:p>
                      <a:pPr algn="l"/>
                      <a:endParaRPr lang="en-CY" sz="1200" kern="100" dirty="0">
                        <a:solidFill>
                          <a:schemeClr val="tx1"/>
                        </a:solidFill>
                        <a:effectLst/>
                      </a:endParaRPr>
                    </a:p>
                    <a:p>
                      <a:pPr algn="l"/>
                      <a:r>
                        <a:rPr lang="en-CY" sz="1200" kern="100" dirty="0">
                          <a:solidFill>
                            <a:schemeClr val="tx1"/>
                          </a:solidFill>
                          <a:effectLst/>
                        </a:rPr>
                        <a:t>FCC Compliant: 3.1 mi (5 km)</a:t>
                      </a:r>
                    </a:p>
                    <a:p>
                      <a:pPr algn="l"/>
                      <a:r>
                        <a:rPr lang="en-CY" sz="1200" kern="100" dirty="0">
                          <a:solidFill>
                            <a:schemeClr val="tx1"/>
                          </a:solidFill>
                          <a:effectLst/>
                        </a:rPr>
                        <a:t> </a:t>
                      </a:r>
                      <a:endParaRPr lang="en-CY"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CY" sz="1200" kern="100" dirty="0">
                          <a:solidFill>
                            <a:schemeClr val="tx1"/>
                          </a:solidFill>
                          <a:effectLst/>
                        </a:rPr>
                        <a:t>Model: TB47S</a:t>
                      </a:r>
                    </a:p>
                    <a:p>
                      <a:pPr algn="l"/>
                      <a:r>
                        <a:rPr lang="en-CY" sz="1200" kern="100" dirty="0">
                          <a:solidFill>
                            <a:schemeClr val="tx1"/>
                          </a:solidFill>
                          <a:effectLst/>
                        </a:rPr>
                        <a:t>Capacity</a:t>
                      </a:r>
                      <a:r>
                        <a:rPr lang="en-US" sz="1200" kern="100" dirty="0">
                          <a:solidFill>
                            <a:schemeClr val="tx1"/>
                          </a:solidFill>
                          <a:effectLst/>
                        </a:rPr>
                        <a:t>: </a:t>
                      </a:r>
                      <a:r>
                        <a:rPr lang="en-CY" sz="1200" kern="100" dirty="0">
                          <a:solidFill>
                            <a:schemeClr val="tx1"/>
                          </a:solidFill>
                          <a:effectLst/>
                        </a:rPr>
                        <a:t>4500 mAh</a:t>
                      </a:r>
                    </a:p>
                    <a:p>
                      <a:pPr algn="l"/>
                      <a:r>
                        <a:rPr lang="en-CY" sz="1200" kern="100" dirty="0">
                          <a:solidFill>
                            <a:schemeClr val="tx1"/>
                          </a:solidFill>
                          <a:effectLst/>
                        </a:rPr>
                        <a:t>Voltage</a:t>
                      </a:r>
                      <a:r>
                        <a:rPr lang="en-US" sz="1200" kern="100" dirty="0">
                          <a:solidFill>
                            <a:schemeClr val="tx1"/>
                          </a:solidFill>
                          <a:effectLst/>
                        </a:rPr>
                        <a:t>: </a:t>
                      </a:r>
                      <a:r>
                        <a:rPr lang="en-CY" sz="1200" kern="100" dirty="0">
                          <a:solidFill>
                            <a:schemeClr val="tx1"/>
                          </a:solidFill>
                          <a:effectLst/>
                        </a:rPr>
                        <a:t>22.2 V</a:t>
                      </a:r>
                    </a:p>
                    <a:p>
                      <a:pPr algn="l"/>
                      <a:r>
                        <a:rPr lang="en-CY" sz="1200" kern="100" dirty="0">
                          <a:solidFill>
                            <a:schemeClr val="tx1"/>
                          </a:solidFill>
                          <a:effectLst/>
                        </a:rPr>
                        <a:t>Battery Type</a:t>
                      </a:r>
                      <a:r>
                        <a:rPr lang="en-US" sz="1200" kern="100" dirty="0">
                          <a:solidFill>
                            <a:schemeClr val="tx1"/>
                          </a:solidFill>
                          <a:effectLst/>
                        </a:rPr>
                        <a:t>: </a:t>
                      </a:r>
                      <a:r>
                        <a:rPr lang="en-CY" sz="1200" kern="100" dirty="0">
                          <a:solidFill>
                            <a:schemeClr val="tx1"/>
                          </a:solidFill>
                          <a:effectLst/>
                        </a:rPr>
                        <a:t>LiPo 6S</a:t>
                      </a:r>
                    </a:p>
                    <a:p>
                      <a:pPr algn="l"/>
                      <a:r>
                        <a:rPr lang="en-CY" sz="1200" kern="100" dirty="0">
                          <a:solidFill>
                            <a:schemeClr val="tx1"/>
                          </a:solidFill>
                          <a:effectLst/>
                        </a:rPr>
                        <a:t>Net Weight</a:t>
                      </a:r>
                      <a:r>
                        <a:rPr lang="en-US" sz="1200" kern="100" dirty="0">
                          <a:solidFill>
                            <a:schemeClr val="tx1"/>
                          </a:solidFill>
                          <a:effectLst/>
                        </a:rPr>
                        <a:t>: </a:t>
                      </a:r>
                      <a:r>
                        <a:rPr lang="en-CY" sz="1200" kern="100" dirty="0">
                          <a:solidFill>
                            <a:schemeClr val="tx1"/>
                          </a:solidFill>
                          <a:effectLst/>
                        </a:rPr>
                        <a:t>595 g</a:t>
                      </a:r>
                      <a:endParaRPr lang="en-CY"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1128470"/>
                  </a:ext>
                </a:extLst>
              </a:tr>
              <a:tr h="1352717">
                <a:tc>
                  <a:txBody>
                    <a:bodyPr/>
                    <a:lstStyle/>
                    <a:p>
                      <a:pPr algn="l">
                        <a:tabLst>
                          <a:tab pos="277495" algn="l"/>
                        </a:tabLst>
                      </a:pPr>
                      <a:r>
                        <a:rPr lang="en-US" sz="1200" b="1" kern="100" dirty="0">
                          <a:solidFill>
                            <a:schemeClr val="tx1"/>
                          </a:solidFill>
                          <a:effectLst/>
                        </a:rPr>
                        <a:t>DJI </a:t>
                      </a:r>
                      <a:r>
                        <a:rPr lang="en-US" sz="1200" b="1" kern="100" dirty="0" err="1">
                          <a:solidFill>
                            <a:schemeClr val="tx1"/>
                          </a:solidFill>
                          <a:effectLst/>
                        </a:rPr>
                        <a:t>Matrice</a:t>
                      </a:r>
                      <a:r>
                        <a:rPr lang="en-US" sz="1200" b="1" kern="100" dirty="0">
                          <a:solidFill>
                            <a:schemeClr val="tx1"/>
                          </a:solidFill>
                          <a:effectLst/>
                        </a:rPr>
                        <a:t> 300 RTK</a:t>
                      </a:r>
                      <a:endParaRPr lang="en-CY" sz="1200" b="1" kern="100" dirty="0">
                        <a:solidFill>
                          <a:schemeClr val="tx1"/>
                        </a:solidFill>
                        <a:effectLst/>
                      </a:endParaRPr>
                    </a:p>
                    <a:p>
                      <a:pPr algn="l">
                        <a:tabLst>
                          <a:tab pos="277495" algn="l"/>
                        </a:tabLst>
                      </a:pPr>
                      <a:r>
                        <a:rPr lang="en-CY" sz="1200" b="1" kern="100" dirty="0">
                          <a:solidFill>
                            <a:schemeClr val="tx1"/>
                          </a:solidFill>
                          <a:effectLst/>
                        </a:rPr>
                        <a:t> </a:t>
                      </a:r>
                      <a:endParaRPr lang="en-CY" sz="12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200" kern="100">
                          <a:solidFill>
                            <a:schemeClr val="tx1"/>
                          </a:solidFill>
                          <a:effectLst/>
                        </a:rPr>
                        <a:t>895mm </a:t>
                      </a:r>
                      <a:endParaRPr lang="en-CY"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200" kern="100">
                          <a:solidFill>
                            <a:schemeClr val="tx1"/>
                          </a:solidFill>
                          <a:effectLst/>
                        </a:rPr>
                        <a:t>9 kg</a:t>
                      </a:r>
                      <a:endParaRPr lang="en-CY"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CY" sz="1200" kern="100">
                          <a:solidFill>
                            <a:schemeClr val="tx1"/>
                          </a:solidFill>
                          <a:effectLst/>
                        </a:rPr>
                        <a:t>5000 m with 211propellers</a:t>
                      </a:r>
                    </a:p>
                    <a:p>
                      <a:pPr algn="l"/>
                      <a:r>
                        <a:rPr lang="en-CY" sz="1200" kern="100">
                          <a:solidFill>
                            <a:schemeClr val="tx1"/>
                          </a:solidFill>
                          <a:effectLst/>
                        </a:rPr>
                        <a:t> </a:t>
                      </a:r>
                      <a:endParaRPr lang="en-CY"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CY" sz="1200" kern="100" dirty="0">
                          <a:solidFill>
                            <a:schemeClr val="tx1"/>
                          </a:solidFill>
                          <a:effectLst/>
                        </a:rPr>
                        <a:t>7000 m with 2195 propellers</a:t>
                      </a:r>
                    </a:p>
                    <a:p>
                      <a:pPr algn="l"/>
                      <a:r>
                        <a:rPr lang="en-CY" sz="1200" kern="100" dirty="0">
                          <a:solidFill>
                            <a:schemeClr val="tx1"/>
                          </a:solidFill>
                          <a:effectLst/>
                        </a:rPr>
                        <a:t> </a:t>
                      </a:r>
                      <a:endParaRPr lang="en-CY"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Y" sz="1200" kern="100" dirty="0">
                          <a:solidFill>
                            <a:schemeClr val="tx1"/>
                          </a:solidFill>
                          <a:effectLst/>
                        </a:rPr>
                        <a:t>No-load hovering time</a:t>
                      </a:r>
                      <a:r>
                        <a:rPr lang="en-US" sz="1200" kern="100" dirty="0">
                          <a:solidFill>
                            <a:schemeClr val="tx1"/>
                          </a:solidFill>
                          <a:effectLst/>
                        </a:rPr>
                        <a:t>: </a:t>
                      </a:r>
                      <a:r>
                        <a:rPr lang="en-CY" sz="1200" kern="100" dirty="0">
                          <a:solidFill>
                            <a:schemeClr val="tx1"/>
                          </a:solidFill>
                          <a:effectLst/>
                        </a:rPr>
                        <a:t>55 min</a:t>
                      </a:r>
                    </a:p>
                    <a:p>
                      <a:pPr algn="l"/>
                      <a:endParaRPr lang="en-CY"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CY" sz="1200" kern="100" dirty="0">
                          <a:solidFill>
                            <a:schemeClr val="tx1"/>
                          </a:solidFill>
                          <a:effectLst/>
                        </a:rPr>
                        <a:t>Motor model: DJI 5108 Motor</a:t>
                      </a:r>
                    </a:p>
                    <a:p>
                      <a:pPr algn="l"/>
                      <a:r>
                        <a:rPr lang="en-CY" sz="1200" kern="100" dirty="0">
                          <a:solidFill>
                            <a:schemeClr val="tx1"/>
                          </a:solidFill>
                          <a:effectLst/>
                        </a:rPr>
                        <a:t> </a:t>
                      </a:r>
                      <a:endParaRPr lang="en-CY"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200" kern="100">
                          <a:solidFill>
                            <a:schemeClr val="tx1"/>
                          </a:solidFill>
                          <a:effectLst/>
                        </a:rPr>
                        <a:t>p</a:t>
                      </a:r>
                      <a:r>
                        <a:rPr lang="en-CY" sz="1200" kern="100">
                          <a:solidFill>
                            <a:schemeClr val="tx1"/>
                          </a:solidFill>
                          <a:effectLst/>
                        </a:rPr>
                        <a:t>ropeller model: 2195T Foldable Propellers</a:t>
                      </a:r>
                    </a:p>
                    <a:p>
                      <a:pPr algn="l"/>
                      <a:r>
                        <a:rPr lang="en-CY" sz="1200" kern="100">
                          <a:solidFill>
                            <a:schemeClr val="tx1"/>
                          </a:solidFill>
                          <a:effectLst/>
                        </a:rPr>
                        <a:t> </a:t>
                      </a:r>
                    </a:p>
                    <a:p>
                      <a:pPr algn="l"/>
                      <a:r>
                        <a:rPr lang="en-CY" sz="1200" kern="100">
                          <a:solidFill>
                            <a:schemeClr val="tx1"/>
                          </a:solidFill>
                          <a:effectLst/>
                        </a:rPr>
                        <a:t> </a:t>
                      </a:r>
                      <a:endParaRPr lang="en-CY"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CY" sz="1200" kern="100">
                          <a:solidFill>
                            <a:schemeClr val="tx1"/>
                          </a:solidFill>
                          <a:effectLst/>
                        </a:rPr>
                        <a:t>NCC/FCC: 15 km</a:t>
                      </a:r>
                      <a:br>
                        <a:rPr lang="en-CY" sz="1200" kern="100">
                          <a:solidFill>
                            <a:schemeClr val="tx1"/>
                          </a:solidFill>
                          <a:effectLst/>
                        </a:rPr>
                      </a:br>
                      <a:r>
                        <a:rPr lang="en-CY" sz="1200" kern="100">
                          <a:solidFill>
                            <a:schemeClr val="tx1"/>
                          </a:solidFill>
                          <a:effectLst/>
                        </a:rPr>
                        <a:t>CE/MIC: 8 km</a:t>
                      </a:r>
                    </a:p>
                    <a:p>
                      <a:pPr algn="l"/>
                      <a:r>
                        <a:rPr lang="en-CY" sz="1200" kern="100">
                          <a:solidFill>
                            <a:schemeClr val="tx1"/>
                          </a:solidFill>
                          <a:effectLst/>
                        </a:rPr>
                        <a:t> </a:t>
                      </a:r>
                      <a:endParaRPr lang="en-CY"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CY" sz="1200" kern="100">
                          <a:solidFill>
                            <a:schemeClr val="tx1"/>
                          </a:solidFill>
                          <a:effectLst/>
                        </a:rPr>
                        <a:t>Name: WB37 Intelligent</a:t>
                      </a:r>
                    </a:p>
                    <a:p>
                      <a:pPr algn="l"/>
                      <a:r>
                        <a:rPr lang="en-CY" sz="1200" kern="100">
                          <a:solidFill>
                            <a:schemeClr val="tx1"/>
                          </a:solidFill>
                          <a:effectLst/>
                        </a:rPr>
                        <a:t>Capacity: 4920 mAh</a:t>
                      </a:r>
                    </a:p>
                    <a:p>
                      <a:pPr algn="l"/>
                      <a:r>
                        <a:rPr lang="en-CY" sz="1200" kern="100">
                          <a:solidFill>
                            <a:schemeClr val="tx1"/>
                          </a:solidFill>
                          <a:effectLst/>
                        </a:rPr>
                        <a:t>Voltage: 7.6V</a:t>
                      </a:r>
                    </a:p>
                    <a:p>
                      <a:pPr algn="l"/>
                      <a:r>
                        <a:rPr lang="en-CY" sz="1200" kern="100">
                          <a:solidFill>
                            <a:schemeClr val="tx1"/>
                          </a:solidFill>
                          <a:effectLst/>
                        </a:rPr>
                        <a:t>Type: LiPo</a:t>
                      </a:r>
                    </a:p>
                    <a:p>
                      <a:pPr algn="l"/>
                      <a:r>
                        <a:rPr lang="en-CY" sz="1200" kern="100">
                          <a:solidFill>
                            <a:schemeClr val="tx1"/>
                          </a:solidFill>
                          <a:effectLst/>
                        </a:rPr>
                        <a:t>Energy: 37.39Wh</a:t>
                      </a:r>
                      <a:endParaRPr lang="en-CY"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2833916"/>
                  </a:ext>
                </a:extLst>
              </a:tr>
              <a:tr h="1076162">
                <a:tc>
                  <a:txBody>
                    <a:bodyPr/>
                    <a:lstStyle/>
                    <a:p>
                      <a:pPr algn="l"/>
                      <a:r>
                        <a:rPr lang="en-US" sz="1200" b="1" kern="100" dirty="0">
                          <a:solidFill>
                            <a:schemeClr val="tx1"/>
                          </a:solidFill>
                          <a:effectLst/>
                        </a:rPr>
                        <a:t>THOR </a:t>
                      </a:r>
                      <a:r>
                        <a:rPr lang="en-CY" sz="1200" b="1" kern="100" dirty="0">
                          <a:solidFill>
                            <a:schemeClr val="tx1"/>
                          </a:solidFill>
                          <a:effectLst/>
                        </a:rPr>
                        <a:t>VTOL mini UAS</a:t>
                      </a:r>
                    </a:p>
                    <a:p>
                      <a:pPr algn="l"/>
                      <a:r>
                        <a:rPr lang="en-CY" sz="1200" b="1" kern="100" dirty="0">
                          <a:solidFill>
                            <a:schemeClr val="tx1"/>
                          </a:solidFill>
                          <a:effectLst/>
                        </a:rPr>
                        <a:t> </a:t>
                      </a:r>
                      <a:endParaRPr lang="en-CY" sz="12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200" kern="100" dirty="0">
                          <a:solidFill>
                            <a:schemeClr val="tx1"/>
                          </a:solidFill>
                          <a:effectLst/>
                        </a:rPr>
                        <a:t>2.06m</a:t>
                      </a:r>
                      <a:endParaRPr lang="en-CY"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200" kern="100">
                          <a:solidFill>
                            <a:schemeClr val="tx1"/>
                          </a:solidFill>
                          <a:effectLst/>
                        </a:rPr>
                        <a:t>21 kg</a:t>
                      </a:r>
                      <a:endParaRPr lang="en-CY"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l"/>
                      <a:r>
                        <a:rPr lang="en-CY" sz="1200" kern="100" dirty="0">
                          <a:solidFill>
                            <a:schemeClr val="tx1"/>
                          </a:solidFill>
                          <a:effectLst/>
                        </a:rPr>
                        <a:t>3657 m</a:t>
                      </a:r>
                      <a:endParaRPr lang="en-CY"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CY"/>
                    </a:p>
                  </a:txBody>
                  <a:tcPr/>
                </a:tc>
                <a:tc>
                  <a:txBody>
                    <a:bodyPr/>
                    <a:lstStyle/>
                    <a:p>
                      <a:pPr algn="l"/>
                      <a:r>
                        <a:rPr lang="en-CY" sz="1200" kern="100" dirty="0">
                          <a:solidFill>
                            <a:schemeClr val="tx1"/>
                          </a:solidFill>
                          <a:effectLst/>
                        </a:rPr>
                        <a:t> </a:t>
                      </a:r>
                      <a:r>
                        <a:rPr lang="en-CY" sz="1200" kern="1200" dirty="0">
                          <a:solidFill>
                            <a:schemeClr val="tx1"/>
                          </a:solidFill>
                          <a:effectLst/>
                        </a:rPr>
                        <a:t>&lt;70 min ﬂight endurance </a:t>
                      </a:r>
                      <a:endParaRPr lang="en-CY"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l"/>
                      <a:r>
                        <a:rPr lang="en-CY" sz="1200" kern="100" dirty="0">
                          <a:solidFill>
                            <a:schemeClr val="tx1"/>
                          </a:solidFill>
                          <a:effectLst/>
                        </a:rPr>
                        <a:t> -</a:t>
                      </a:r>
                      <a:endParaRPr lang="en-CY"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CY"/>
                    </a:p>
                  </a:txBody>
                  <a:tcPr/>
                </a:tc>
                <a:tc>
                  <a:txBody>
                    <a:bodyPr/>
                    <a:lstStyle/>
                    <a:p>
                      <a:pPr algn="l"/>
                      <a:r>
                        <a:rPr lang="en-CY" sz="1200" kern="100" dirty="0">
                          <a:solidFill>
                            <a:schemeClr val="tx1"/>
                          </a:solidFill>
                          <a:effectLst/>
                        </a:rPr>
                        <a:t> 10 km</a:t>
                      </a:r>
                      <a:endParaRPr lang="en-CY"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CY" sz="1200" kern="100" dirty="0">
                          <a:solidFill>
                            <a:schemeClr val="tx1"/>
                          </a:solidFill>
                          <a:effectLst/>
                        </a:rPr>
                        <a:t> -</a:t>
                      </a:r>
                      <a:endParaRPr lang="en-CY"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41028215"/>
                  </a:ext>
                </a:extLst>
              </a:tr>
              <a:tr h="1711805">
                <a:tc>
                  <a:txBody>
                    <a:bodyPr/>
                    <a:lstStyle/>
                    <a:p>
                      <a:pPr algn="l"/>
                      <a:r>
                        <a:rPr lang="en-US" sz="1200" b="1" kern="100" dirty="0">
                          <a:solidFill>
                            <a:schemeClr val="tx1"/>
                          </a:solidFill>
                          <a:effectLst/>
                        </a:rPr>
                        <a:t>KWT-X6L-15 Multi-rotor UAV </a:t>
                      </a:r>
                      <a:endParaRPr lang="en-CY" sz="1200" b="1" kern="100" dirty="0">
                        <a:solidFill>
                          <a:schemeClr val="tx1"/>
                        </a:solidFill>
                        <a:effectLst/>
                      </a:endParaRPr>
                    </a:p>
                    <a:p>
                      <a:pPr marL="457200" algn="l"/>
                      <a:r>
                        <a:rPr lang="en-US" sz="1200" b="1" kern="100" dirty="0">
                          <a:solidFill>
                            <a:schemeClr val="tx1"/>
                          </a:solidFill>
                          <a:effectLst/>
                        </a:rPr>
                        <a:t> </a:t>
                      </a:r>
                      <a:endParaRPr lang="en-CY" sz="12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CY" sz="1200" kern="100" dirty="0">
                          <a:solidFill>
                            <a:schemeClr val="tx1"/>
                          </a:solidFill>
                          <a:effectLst/>
                        </a:rPr>
                        <a:t>1765±10mm</a:t>
                      </a:r>
                    </a:p>
                    <a:p>
                      <a:pPr algn="l"/>
                      <a:r>
                        <a:rPr lang="en-CY" sz="1200" kern="100" dirty="0">
                          <a:solidFill>
                            <a:schemeClr val="tx1"/>
                          </a:solidFill>
                          <a:effectLst/>
                        </a:rPr>
                        <a:t> </a:t>
                      </a:r>
                      <a:endParaRPr lang="en-CY"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200" kern="100">
                          <a:solidFill>
                            <a:schemeClr val="tx1"/>
                          </a:solidFill>
                          <a:effectLst/>
                        </a:rPr>
                        <a:t>37.5 kg</a:t>
                      </a:r>
                      <a:endParaRPr lang="en-CY"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l"/>
                      <a:r>
                        <a:rPr lang="en-CY" sz="1200" kern="100">
                          <a:solidFill>
                            <a:schemeClr val="tx1"/>
                          </a:solidFill>
                          <a:effectLst/>
                        </a:rPr>
                        <a:t>5000m</a:t>
                      </a:r>
                    </a:p>
                    <a:p>
                      <a:pPr algn="l"/>
                      <a:r>
                        <a:rPr lang="en-CY" sz="1200" kern="100">
                          <a:solidFill>
                            <a:schemeClr val="tx1"/>
                          </a:solidFill>
                          <a:effectLst/>
                        </a:rPr>
                        <a:t> </a:t>
                      </a:r>
                      <a:endParaRPr lang="en-CY"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CY"/>
                    </a:p>
                  </a:txBody>
                  <a:tcPr/>
                </a:tc>
                <a:tc>
                  <a:txBody>
                    <a:bodyPr/>
                    <a:lstStyle/>
                    <a:p>
                      <a:pPr algn="l"/>
                      <a:r>
                        <a:rPr lang="en-CY" sz="1200" kern="100" dirty="0">
                          <a:solidFill>
                            <a:schemeClr val="tx1"/>
                          </a:solidFill>
                          <a:effectLst/>
                        </a:rPr>
                        <a:t> </a:t>
                      </a:r>
                    </a:p>
                    <a:p>
                      <a:pPr algn="l"/>
                      <a:r>
                        <a:rPr lang="en-CY" sz="1200" kern="100" dirty="0">
                          <a:solidFill>
                            <a:schemeClr val="tx1"/>
                          </a:solidFill>
                          <a:effectLst/>
                        </a:rPr>
                        <a:t>No-load hovering time</a:t>
                      </a:r>
                      <a:r>
                        <a:rPr lang="en-US" sz="1200" kern="100" dirty="0">
                          <a:solidFill>
                            <a:schemeClr val="tx1"/>
                          </a:solidFill>
                          <a:effectLst/>
                        </a:rPr>
                        <a:t> : </a:t>
                      </a:r>
                      <a:r>
                        <a:rPr lang="en-CY" sz="1200" kern="100" dirty="0">
                          <a:solidFill>
                            <a:schemeClr val="tx1"/>
                          </a:solidFill>
                          <a:effectLst/>
                        </a:rPr>
                        <a:t>≥75min</a:t>
                      </a:r>
                    </a:p>
                    <a:p>
                      <a:pPr algn="l"/>
                      <a:r>
                        <a:rPr lang="en-CY" sz="1200" kern="100" dirty="0">
                          <a:solidFill>
                            <a:schemeClr val="tx1"/>
                          </a:solidFill>
                          <a:effectLst/>
                        </a:rPr>
                        <a:t>15kg load hovering time</a:t>
                      </a:r>
                      <a:r>
                        <a:rPr lang="en-US" sz="1200" kern="100" dirty="0">
                          <a:solidFill>
                            <a:schemeClr val="tx1"/>
                          </a:solidFill>
                          <a:effectLst/>
                        </a:rPr>
                        <a:t>: </a:t>
                      </a:r>
                      <a:r>
                        <a:rPr lang="en-CY" sz="1200" kern="100" dirty="0">
                          <a:solidFill>
                            <a:schemeClr val="tx1"/>
                          </a:solidFill>
                          <a:effectLst/>
                        </a:rPr>
                        <a:t>≥</a:t>
                      </a:r>
                      <a:r>
                        <a:rPr lang="en-US" sz="1200" kern="100" dirty="0">
                          <a:solidFill>
                            <a:schemeClr val="tx1"/>
                          </a:solidFill>
                          <a:effectLst/>
                        </a:rPr>
                        <a:t>30</a:t>
                      </a:r>
                      <a:r>
                        <a:rPr lang="en-CY" sz="1200" kern="100" dirty="0">
                          <a:solidFill>
                            <a:schemeClr val="tx1"/>
                          </a:solidFill>
                          <a:effectLst/>
                        </a:rPr>
                        <a:t>min</a:t>
                      </a:r>
                    </a:p>
                    <a:p>
                      <a:pPr algn="l"/>
                      <a:r>
                        <a:rPr lang="en-US" sz="1200" kern="100" dirty="0">
                          <a:solidFill>
                            <a:schemeClr val="tx1"/>
                          </a:solidFill>
                          <a:effectLst/>
                        </a:rPr>
                        <a:t> </a:t>
                      </a:r>
                      <a:endParaRPr lang="en-CY"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l"/>
                      <a:r>
                        <a:rPr lang="en-GB" sz="1200" kern="100" dirty="0">
                          <a:solidFill>
                            <a:schemeClr val="tx1"/>
                          </a:solidFill>
                          <a:effectLst/>
                        </a:rPr>
                        <a:t>Propeller Size: 812mm</a:t>
                      </a:r>
                      <a:endParaRPr lang="en-CY"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CY"/>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Y" sz="1200" kern="100" dirty="0">
                          <a:solidFill>
                            <a:schemeClr val="tx1"/>
                          </a:solidFill>
                          <a:effectLst/>
                        </a:rPr>
                        <a:t> ≥7km</a:t>
                      </a:r>
                    </a:p>
                    <a:p>
                      <a:pPr algn="l"/>
                      <a:endParaRPr lang="en-CY"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CY" sz="1200" kern="100" dirty="0">
                          <a:solidFill>
                            <a:schemeClr val="tx1"/>
                          </a:solidFill>
                          <a:effectLst/>
                        </a:rPr>
                        <a:t>12S 26000mAh</a:t>
                      </a:r>
                    </a:p>
                    <a:p>
                      <a:pPr algn="l"/>
                      <a:r>
                        <a:rPr lang="en-CY" sz="1200" kern="100" dirty="0">
                          <a:solidFill>
                            <a:schemeClr val="tx1"/>
                          </a:solidFill>
                          <a:effectLst/>
                        </a:rPr>
                        <a:t> </a:t>
                      </a:r>
                      <a:endParaRPr lang="en-CY"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597" marR="505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9030035"/>
                  </a:ext>
                </a:extLst>
              </a:tr>
            </a:tbl>
          </a:graphicData>
        </a:graphic>
      </p:graphicFrame>
      <p:pic>
        <p:nvPicPr>
          <p:cNvPr id="7" name="Picture 3">
            <a:extLst>
              <a:ext uri="{FF2B5EF4-FFF2-40B4-BE49-F238E27FC236}">
                <a16:creationId xmlns:a16="http://schemas.microsoft.com/office/drawing/2014/main" id="{F62FC0C8-776C-9AB3-5B9A-F81D0160A6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367" y="1506133"/>
            <a:ext cx="1192192" cy="87825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7F214F2C-FACA-FCBF-CD61-7852FE0D60AC}"/>
              </a:ext>
            </a:extLst>
          </p:cNvPr>
          <p:cNvSpPr txBox="1"/>
          <p:nvPr/>
        </p:nvSpPr>
        <p:spPr>
          <a:xfrm>
            <a:off x="4427317" y="0"/>
            <a:ext cx="6099858"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Market &amp; Competitor Study</a:t>
            </a:r>
            <a:endParaRPr lang="en-CY" dirty="0"/>
          </a:p>
        </p:txBody>
      </p:sp>
      <p:pic>
        <p:nvPicPr>
          <p:cNvPr id="10" name="Picture 9">
            <a:extLst>
              <a:ext uri="{FF2B5EF4-FFF2-40B4-BE49-F238E27FC236}">
                <a16:creationId xmlns:a16="http://schemas.microsoft.com/office/drawing/2014/main" id="{8CB86210-40FF-35B8-9DA6-E27AC98B3B1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9367" y="3012188"/>
            <a:ext cx="1192192" cy="761235"/>
          </a:xfrm>
          <a:prstGeom prst="rect">
            <a:avLst/>
          </a:prstGeom>
        </p:spPr>
      </p:pic>
      <p:pic>
        <p:nvPicPr>
          <p:cNvPr id="11" name="Picture 10">
            <a:extLst>
              <a:ext uri="{FF2B5EF4-FFF2-40B4-BE49-F238E27FC236}">
                <a16:creationId xmlns:a16="http://schemas.microsoft.com/office/drawing/2014/main" id="{FD016682-1353-ACB1-4881-D8C4F90CA54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9367" y="4281309"/>
            <a:ext cx="1192193" cy="623433"/>
          </a:xfrm>
          <a:prstGeom prst="rect">
            <a:avLst/>
          </a:prstGeom>
        </p:spPr>
      </p:pic>
      <p:pic>
        <p:nvPicPr>
          <p:cNvPr id="12" name="Picture 11">
            <a:extLst>
              <a:ext uri="{FF2B5EF4-FFF2-40B4-BE49-F238E27FC236}">
                <a16:creationId xmlns:a16="http://schemas.microsoft.com/office/drawing/2014/main" id="{A44773BC-BEAA-12EF-53F0-73A4AFD2CB6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2468" y="5670347"/>
            <a:ext cx="1259091" cy="733650"/>
          </a:xfrm>
          <a:prstGeom prst="rect">
            <a:avLst/>
          </a:prstGeom>
        </p:spPr>
      </p:pic>
    </p:spTree>
    <p:extLst>
      <p:ext uri="{BB962C8B-B14F-4D97-AF65-F5344CB8AC3E}">
        <p14:creationId xmlns:p14="http://schemas.microsoft.com/office/powerpoint/2010/main" val="33696991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etin kutusu 4">
            <a:extLst>
              <a:ext uri="{FF2B5EF4-FFF2-40B4-BE49-F238E27FC236}">
                <a16:creationId xmlns:a16="http://schemas.microsoft.com/office/drawing/2014/main" id="{34D164E4-4A8D-960B-710F-DB9D51FA93F2}"/>
              </a:ext>
            </a:extLst>
          </p:cNvPr>
          <p:cNvSpPr txBox="1"/>
          <p:nvPr/>
        </p:nvSpPr>
        <p:spPr>
          <a:xfrm>
            <a:off x="3416969" y="122381"/>
            <a:ext cx="7964681" cy="646331"/>
          </a:xfrm>
          <a:prstGeom prst="rect">
            <a:avLst/>
          </a:prstGeom>
          <a:noFill/>
        </p:spPr>
        <p:txBody>
          <a:bodyPr wrap="square" rtlCol="0">
            <a:spAutoFit/>
          </a:bodyPr>
          <a:lstStyle/>
          <a:p>
            <a:r>
              <a:rPr lang="tr-TR" sz="3600" b="1" dirty="0">
                <a:latin typeface="Times New Roman" panose="02020603050405020304" pitchFamily="18" charset="0"/>
                <a:cs typeface="Times New Roman" panose="02020603050405020304" pitchFamily="18" charset="0"/>
              </a:rPr>
              <a:t>INGENZI UAV Specifications</a:t>
            </a:r>
            <a:endParaRPr lang="en-US" sz="36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EDA5110A-2C0C-3396-838C-65683F2FE2A9}"/>
              </a:ext>
            </a:extLst>
          </p:cNvPr>
          <p:cNvSpPr txBox="1"/>
          <p:nvPr/>
        </p:nvSpPr>
        <p:spPr>
          <a:xfrm>
            <a:off x="368969" y="962322"/>
            <a:ext cx="2498376" cy="677108"/>
          </a:xfrm>
          <a:prstGeom prst="rect">
            <a:avLst/>
          </a:prstGeom>
          <a:noFill/>
        </p:spPr>
        <p:txBody>
          <a:bodyPr wrap="none" rtlCol="0">
            <a:spAutoFit/>
          </a:bodyPr>
          <a:lstStyle/>
          <a:p>
            <a:r>
              <a:rPr lang="en-CY" sz="2000" b="1" dirty="0">
                <a:effectLst/>
                <a:latin typeface="TimesNewRomanPS"/>
                <a:ea typeface="Times New Roman" panose="02020603050405020304" pitchFamily="18" charset="0"/>
              </a:rPr>
              <a:t>Motor and Propeller </a:t>
            </a:r>
            <a:endParaRPr lang="en-CY" sz="2000" dirty="0">
              <a:effectLst/>
              <a:latin typeface="Times New Roman" panose="02020603050405020304" pitchFamily="18" charset="0"/>
              <a:ea typeface="Times New Roman" panose="02020603050405020304" pitchFamily="18" charset="0"/>
            </a:endParaRPr>
          </a:p>
          <a:p>
            <a:endParaRPr lang="en-CY"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7D7438F-A619-8BA1-6826-610B16E5DA9D}"/>
                  </a:ext>
                </a:extLst>
              </p:cNvPr>
              <p:cNvSpPr txBox="1"/>
              <p:nvPr/>
            </p:nvSpPr>
            <p:spPr>
              <a:xfrm>
                <a:off x="368969" y="1626523"/>
                <a:ext cx="6096000" cy="2554545"/>
              </a:xfrm>
              <a:prstGeom prst="rect">
                <a:avLst/>
              </a:prstGeom>
              <a:noFill/>
            </p:spPr>
            <p:txBody>
              <a:bodyPr wrap="square">
                <a:spAutoFit/>
              </a:bodyPr>
              <a:lstStyle/>
              <a:p>
                <a:r>
                  <a:rPr lang="en-US" sz="2000" dirty="0">
                    <a:effectLst/>
                    <a:latin typeface="TimesNewRomanPS"/>
                    <a:ea typeface="Times New Roman" panose="02020603050405020304" pitchFamily="18" charset="0"/>
                  </a:rPr>
                  <a:t>Brand: </a:t>
                </a:r>
                <a:r>
                  <a:rPr lang="en-CY" sz="2000" dirty="0">
                    <a:effectLst/>
                    <a:latin typeface="TimesNewRomanPS"/>
                    <a:ea typeface="Times New Roman" panose="02020603050405020304" pitchFamily="18" charset="0"/>
                  </a:rPr>
                  <a:t>JMRRC 6215</a:t>
                </a:r>
                <a:endParaRPr lang="en-CY" sz="2000" dirty="0">
                  <a:effectLst/>
                  <a:latin typeface="Times New Roman" panose="02020603050405020304" pitchFamily="18" charset="0"/>
                  <a:ea typeface="Times New Roman" panose="02020603050405020304" pitchFamily="18" charset="0"/>
                </a:endParaRPr>
              </a:p>
              <a:p>
                <a:r>
                  <a:rPr lang="en-US" sz="2000" dirty="0">
                    <a:effectLst/>
                    <a:latin typeface="TimesNewRomanPS"/>
                    <a:ea typeface="Times New Roman" panose="02020603050405020304" pitchFamily="18" charset="0"/>
                  </a:rPr>
                  <a:t>Number of motors: 8</a:t>
                </a:r>
                <a:endParaRPr lang="en-CY" sz="2000" dirty="0">
                  <a:effectLst/>
                  <a:latin typeface="Times New Roman" panose="02020603050405020304" pitchFamily="18" charset="0"/>
                  <a:ea typeface="Times New Roman" panose="02020603050405020304" pitchFamily="18" charset="0"/>
                </a:endParaRPr>
              </a:p>
              <a:p>
                <a:r>
                  <a:rPr lang="en-CY" sz="2000" dirty="0">
                    <a:effectLst/>
                    <a:latin typeface="TimesNewRomanPSMT"/>
                    <a:ea typeface="Times New Roman" panose="02020603050405020304" pitchFamily="18" charset="0"/>
                  </a:rPr>
                  <a:t>Propeller Diameter</a:t>
                </a:r>
                <a:r>
                  <a:rPr lang="en-US" sz="2000" dirty="0">
                    <a:effectLst/>
                    <a:latin typeface="TimesNewRomanPSMT"/>
                    <a:ea typeface="Times New Roman" panose="02020603050405020304" pitchFamily="18" charset="0"/>
                  </a:rPr>
                  <a:t>: </a:t>
                </a:r>
                <a:r>
                  <a:rPr lang="en-CY" sz="2000" dirty="0">
                    <a:effectLst/>
                    <a:latin typeface="TimesNewRomanPSMT"/>
                    <a:ea typeface="Times New Roman" panose="02020603050405020304" pitchFamily="18" charset="0"/>
                  </a:rPr>
                  <a:t>20.4inch (515.8mm)</a:t>
                </a:r>
                <a:endParaRPr lang="en-CY" sz="2000" dirty="0">
                  <a:effectLst/>
                  <a:latin typeface="Times New Roman" panose="02020603050405020304" pitchFamily="18" charset="0"/>
                  <a:ea typeface="Times New Roman" panose="02020603050405020304" pitchFamily="18" charset="0"/>
                </a:endParaRPr>
              </a:p>
              <a:p>
                <a:r>
                  <a:rPr lang="en-CY" sz="2000" dirty="0">
                    <a:effectLst/>
                    <a:latin typeface="TimesNewRomanPSMT"/>
                    <a:ea typeface="Times New Roman" panose="02020603050405020304" pitchFamily="18" charset="0"/>
                  </a:rPr>
                  <a:t>Propeller </a:t>
                </a:r>
                <a:r>
                  <a:rPr lang="en-US" sz="2000" dirty="0">
                    <a:effectLst/>
                    <a:latin typeface="TimesNewRomanPSMT"/>
                    <a:ea typeface="Times New Roman" panose="02020603050405020304" pitchFamily="18" charset="0"/>
                  </a:rPr>
                  <a:t>Pitch: </a:t>
                </a:r>
                <a:r>
                  <a:rPr lang="en-CY" sz="2000" dirty="0">
                    <a:effectLst/>
                    <a:latin typeface="TimesNewRomanPSMT"/>
                    <a:ea typeface="Times New Roman" panose="02020603050405020304" pitchFamily="18" charset="0"/>
                  </a:rPr>
                  <a:t>7.3inch (185.1mm)</a:t>
                </a:r>
                <a:endParaRPr lang="en-CY" sz="2000" dirty="0">
                  <a:effectLst/>
                  <a:latin typeface="Times New Roman" panose="02020603050405020304" pitchFamily="18" charset="0"/>
                  <a:ea typeface="Times New Roman" panose="02020603050405020304" pitchFamily="18" charset="0"/>
                </a:endParaRPr>
              </a:p>
              <a:p>
                <a14:m>
                  <m:oMath xmlns:m="http://schemas.openxmlformats.org/officeDocument/2006/math">
                    <m:sSub>
                      <m:sSubPr>
                        <m:ctrlPr>
                          <a:rPr lang="en-CY" sz="2000" i="1">
                            <a:effectLst/>
                            <a:latin typeface="Cambria Math" panose="02040503050406030204" pitchFamily="18" charset="0"/>
                            <a:ea typeface="Times New Roman" panose="02020603050405020304" pitchFamily="18" charset="0"/>
                          </a:rPr>
                        </m:ctrlPr>
                      </m:sSubPr>
                      <m:e>
                        <m:r>
                          <a:rPr lang="en-US" sz="2000" i="1">
                            <a:effectLst/>
                            <a:latin typeface="Cambria Math" panose="02040503050406030204" pitchFamily="18" charset="0"/>
                            <a:ea typeface="Times New Roman" panose="02020603050405020304" pitchFamily="18" charset="0"/>
                          </a:rPr>
                          <m:t>𝑊</m:t>
                        </m:r>
                      </m:e>
                      <m:sub>
                        <m:r>
                          <a:rPr lang="en-US" sz="2000" i="1">
                            <a:effectLst/>
                            <a:latin typeface="Cambria Math" panose="02040503050406030204" pitchFamily="18" charset="0"/>
                            <a:ea typeface="Times New Roman" panose="02020603050405020304" pitchFamily="18" charset="0"/>
                          </a:rPr>
                          <m:t>𝑚</m:t>
                        </m:r>
                      </m:sub>
                    </m:sSub>
                    <m:r>
                      <a:rPr lang="en-US" sz="2000" i="1">
                        <a:effectLst/>
                        <a:latin typeface="Cambria Math" panose="02040503050406030204" pitchFamily="18" charset="0"/>
                        <a:ea typeface="Times New Roman" panose="02020603050405020304" pitchFamily="18" charset="0"/>
                      </a:rPr>
                      <m:t>=</m:t>
                    </m:r>
                  </m:oMath>
                </a14:m>
                <a:r>
                  <a:rPr lang="en-US" sz="2000" dirty="0">
                    <a:effectLst/>
                    <a:latin typeface="CambriaMath"/>
                    <a:ea typeface="Times New Roman" panose="02020603050405020304" pitchFamily="18" charset="0"/>
                  </a:rPr>
                  <a:t>8</a:t>
                </a:r>
                <a:r>
                  <a:rPr lang="en-CY" sz="2000" dirty="0">
                    <a:effectLst/>
                    <a:latin typeface="CambriaMath"/>
                    <a:ea typeface="Times New Roman" panose="02020603050405020304" pitchFamily="18" charset="0"/>
                  </a:rPr>
                  <a:t>×3</a:t>
                </a:r>
                <a:r>
                  <a:rPr lang="en-US" sz="2000" dirty="0">
                    <a:effectLst/>
                    <a:latin typeface="CambriaMath"/>
                    <a:ea typeface="Times New Roman" panose="02020603050405020304" pitchFamily="18" charset="0"/>
                  </a:rPr>
                  <a:t>6</a:t>
                </a:r>
                <a:r>
                  <a:rPr lang="en-CY" sz="2000" dirty="0">
                    <a:effectLst/>
                    <a:latin typeface="CambriaMath"/>
                    <a:ea typeface="Times New Roman" panose="02020603050405020304" pitchFamily="18" charset="0"/>
                  </a:rPr>
                  <a:t>5g </a:t>
                </a:r>
                <a:r>
                  <a:rPr lang="en-US" sz="2000" dirty="0">
                    <a:effectLst/>
                    <a:latin typeface="CambriaMath"/>
                    <a:ea typeface="Times New Roman" panose="02020603050405020304" pitchFamily="18" charset="0"/>
                  </a:rPr>
                  <a:t>=2920g</a:t>
                </a:r>
                <a:endParaRPr lang="en-CY" sz="2000" dirty="0">
                  <a:effectLst/>
                  <a:latin typeface="Times New Roman" panose="02020603050405020304" pitchFamily="18" charset="0"/>
                  <a:ea typeface="Times New Roman" panose="02020603050405020304" pitchFamily="18" charset="0"/>
                </a:endParaRPr>
              </a:p>
              <a:p>
                <a14:m>
                  <m:oMath xmlns:m="http://schemas.openxmlformats.org/officeDocument/2006/math">
                    <m:sSub>
                      <m:sSubPr>
                        <m:ctrlPr>
                          <a:rPr lang="en-CY" sz="2000" i="1">
                            <a:effectLst/>
                            <a:latin typeface="Cambria Math" panose="02040503050406030204" pitchFamily="18" charset="0"/>
                            <a:ea typeface="Times New Roman" panose="02020603050405020304" pitchFamily="18" charset="0"/>
                          </a:rPr>
                        </m:ctrlPr>
                      </m:sSubPr>
                      <m:e>
                        <m:r>
                          <a:rPr lang="en-US" sz="2000" i="1">
                            <a:effectLst/>
                            <a:latin typeface="Cambria Math" panose="02040503050406030204" pitchFamily="18" charset="0"/>
                            <a:ea typeface="Times New Roman" panose="02020603050405020304" pitchFamily="18" charset="0"/>
                          </a:rPr>
                          <m:t>𝐾</m:t>
                        </m:r>
                      </m:e>
                      <m:sub>
                        <m:r>
                          <a:rPr lang="en-US" sz="2000" i="1">
                            <a:effectLst/>
                            <a:latin typeface="Cambria Math" panose="02040503050406030204" pitchFamily="18" charset="0"/>
                            <a:ea typeface="Times New Roman" panose="02020603050405020304" pitchFamily="18" charset="0"/>
                          </a:rPr>
                          <m:t>𝑉</m:t>
                        </m:r>
                      </m:sub>
                    </m:sSub>
                  </m:oMath>
                </a14:m>
                <a:r>
                  <a:rPr lang="en-US" sz="2000" dirty="0">
                    <a:effectLst/>
                    <a:latin typeface="Cambria Math" panose="02040503050406030204" pitchFamily="18" charset="0"/>
                    <a:ea typeface="Times New Roman" panose="02020603050405020304" pitchFamily="18" charset="0"/>
                    <a:cs typeface="Cambria Math" panose="02040503050406030204" pitchFamily="18" charset="0"/>
                  </a:rPr>
                  <a:t>=</a:t>
                </a:r>
                <a:r>
                  <a:rPr lang="en-US" sz="2000" dirty="0">
                    <a:effectLst/>
                    <a:latin typeface="CambriaMath"/>
                    <a:ea typeface="Times New Roman" panose="02020603050405020304" pitchFamily="18" charset="0"/>
                  </a:rPr>
                  <a:t> </a:t>
                </a:r>
                <a:r>
                  <a:rPr lang="en-CY" sz="2000" dirty="0">
                    <a:effectLst/>
                    <a:latin typeface="Cambria Math" panose="02040503050406030204" pitchFamily="18" charset="0"/>
                    <a:ea typeface="Times New Roman" panose="02020603050405020304" pitchFamily="18" charset="0"/>
                    <a:cs typeface="Cambria Math" panose="02040503050406030204" pitchFamily="18" charset="0"/>
                  </a:rPr>
                  <a:t>330 rpm⁄V </a:t>
                </a:r>
                <a:endParaRPr lang="en-CY" sz="2000" dirty="0">
                  <a:effectLst/>
                  <a:latin typeface="Times New Roman" panose="02020603050405020304" pitchFamily="18" charset="0"/>
                  <a:ea typeface="Times New Roman" panose="02020603050405020304" pitchFamily="18" charset="0"/>
                </a:endParaRPr>
              </a:p>
              <a:p>
                <a:r>
                  <a:rPr lang="en-CY" sz="2000" dirty="0">
                    <a:effectLst/>
                    <a:latin typeface="Cambria Math" panose="02040503050406030204" pitchFamily="18" charset="0"/>
                    <a:ea typeface="Times New Roman" panose="02020603050405020304" pitchFamily="18" charset="0"/>
                    <a:cs typeface="Cambria Math" panose="02040503050406030204" pitchFamily="18" charset="0"/>
                  </a:rPr>
                  <a:t> </a:t>
                </a:r>
                <a:endParaRPr lang="en-CY" sz="2000" dirty="0">
                  <a:effectLst/>
                  <a:latin typeface="Times New Roman" panose="02020603050405020304" pitchFamily="18" charset="0"/>
                  <a:ea typeface="Times New Roman" panose="02020603050405020304" pitchFamily="18" charset="0"/>
                </a:endParaRPr>
              </a:p>
              <a:p>
                <a14:m>
                  <m:oMath xmlns:m="http://schemas.openxmlformats.org/officeDocument/2006/math">
                    <m:sSubSup>
                      <m:sSubSupPr>
                        <m:ctrlPr>
                          <a:rPr lang="en-CY" sz="2000" i="1">
                            <a:effectLst/>
                            <a:latin typeface="Cambria Math" panose="02040503050406030204" pitchFamily="18" charset="0"/>
                            <a:ea typeface="Times New Roman" panose="02020603050405020304" pitchFamily="18" charset="0"/>
                          </a:rPr>
                        </m:ctrlPr>
                      </m:sSubSupPr>
                      <m:e>
                        <m:r>
                          <a:rPr lang="en-US" sz="2000" i="1">
                            <a:effectLst/>
                            <a:latin typeface="Cambria Math" panose="02040503050406030204" pitchFamily="18" charset="0"/>
                            <a:ea typeface="Times New Roman" panose="02020603050405020304" pitchFamily="18" charset="0"/>
                          </a:rPr>
                          <m:t>𝑃</m:t>
                        </m:r>
                      </m:e>
                      <m:sub>
                        <m:r>
                          <a:rPr lang="en-US" sz="2000" i="1">
                            <a:effectLst/>
                            <a:latin typeface="Cambria Math" panose="02040503050406030204" pitchFamily="18" charset="0"/>
                            <a:ea typeface="Times New Roman" panose="02020603050405020304" pitchFamily="18" charset="0"/>
                          </a:rPr>
                          <m:t>𝑚𝑎𝑥</m:t>
                        </m:r>
                      </m:sub>
                      <m:sup>
                        <m:r>
                          <a:rPr lang="en-US" sz="2000" i="1">
                            <a:effectLst/>
                            <a:latin typeface="Cambria Math" panose="02040503050406030204" pitchFamily="18" charset="0"/>
                            <a:ea typeface="Times New Roman" panose="02020603050405020304" pitchFamily="18" charset="0"/>
                          </a:rPr>
                          <m:t>𝑚</m:t>
                        </m:r>
                      </m:sup>
                    </m:sSubSup>
                  </m:oMath>
                </a14:m>
                <a:r>
                  <a:rPr lang="en-US" sz="2000" dirty="0">
                    <a:effectLst/>
                    <a:latin typeface="Times New Roman" panose="02020603050405020304" pitchFamily="18" charset="0"/>
                    <a:ea typeface="Times New Roman" panose="02020603050405020304" pitchFamily="18" charset="0"/>
                  </a:rPr>
                  <a:t>=1450 W</a:t>
                </a:r>
                <a:endParaRPr lang="en-CY" sz="2000" dirty="0">
                  <a:effectLst/>
                  <a:latin typeface="Times New Roman" panose="02020603050405020304" pitchFamily="18" charset="0"/>
                  <a:ea typeface="Times New Roman" panose="02020603050405020304" pitchFamily="18" charset="0"/>
                </a:endParaRPr>
              </a:p>
            </p:txBody>
          </p:sp>
        </mc:Choice>
        <mc:Fallback xmlns="">
          <p:sp>
            <p:nvSpPr>
              <p:cNvPr id="8" name="TextBox 7">
                <a:extLst>
                  <a:ext uri="{FF2B5EF4-FFF2-40B4-BE49-F238E27FC236}">
                    <a16:creationId xmlns:a16="http://schemas.microsoft.com/office/drawing/2014/main" id="{A7D7438F-A619-8BA1-6826-610B16E5DA9D}"/>
                  </a:ext>
                </a:extLst>
              </p:cNvPr>
              <p:cNvSpPr txBox="1">
                <a:spLocks noRot="1" noChangeAspect="1" noMove="1" noResize="1" noEditPoints="1" noAdjustHandles="1" noChangeArrowheads="1" noChangeShapeType="1" noTextEdit="1"/>
              </p:cNvSpPr>
              <p:nvPr/>
            </p:nvSpPr>
            <p:spPr>
              <a:xfrm>
                <a:off x="368969" y="1626523"/>
                <a:ext cx="6096000" cy="2554545"/>
              </a:xfrm>
              <a:prstGeom prst="rect">
                <a:avLst/>
              </a:prstGeom>
              <a:blipFill>
                <a:blip r:embed="rId2"/>
                <a:stretch>
                  <a:fillRect l="-1040" t="-1485" b="-2970"/>
                </a:stretch>
              </a:blipFill>
            </p:spPr>
            <p:txBody>
              <a:bodyPr/>
              <a:lstStyle/>
              <a:p>
                <a:r>
                  <a:rPr lang="en-CY">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1A1540F-F99F-1B65-3F9A-BC68DA4BFC80}"/>
                  </a:ext>
                </a:extLst>
              </p:cNvPr>
              <p:cNvSpPr txBox="1"/>
              <p:nvPr/>
            </p:nvSpPr>
            <p:spPr>
              <a:xfrm>
                <a:off x="368969" y="3954204"/>
                <a:ext cx="6464968" cy="2831544"/>
              </a:xfrm>
              <a:prstGeom prst="rect">
                <a:avLst/>
              </a:prstGeom>
              <a:noFill/>
            </p:spPr>
            <p:txBody>
              <a:bodyPr wrap="square">
                <a:spAutoFit/>
              </a:bodyPr>
              <a:lstStyle/>
              <a:p>
                <a:endParaRPr lang="en-CY" sz="2000" b="1" dirty="0">
                  <a:effectLst/>
                  <a:latin typeface="TimesNewRomanPS"/>
                  <a:ea typeface="Times New Roman" panose="02020603050405020304" pitchFamily="18" charset="0"/>
                </a:endParaRPr>
              </a:p>
              <a:p>
                <a:r>
                  <a:rPr lang="en-CY" sz="2000" b="1" dirty="0">
                    <a:effectLst/>
                    <a:latin typeface="TimesNewRomanPS"/>
                    <a:ea typeface="Times New Roman" panose="02020603050405020304" pitchFamily="18" charset="0"/>
                  </a:rPr>
                  <a:t>Battery </a:t>
                </a:r>
              </a:p>
              <a:p>
                <a:endParaRPr lang="en-CY" sz="1800" dirty="0">
                  <a:effectLst/>
                  <a:latin typeface="Times New Roman" panose="02020603050405020304" pitchFamily="18" charset="0"/>
                  <a:ea typeface="Times New Roman" panose="02020603050405020304" pitchFamily="18" charset="0"/>
                </a:endParaRPr>
              </a:p>
              <a:p>
                <a:r>
                  <a:rPr lang="en-US" sz="2000" dirty="0">
                    <a:effectLst/>
                    <a:latin typeface="TimesNewRomanPS"/>
                    <a:ea typeface="Times New Roman" panose="02020603050405020304" pitchFamily="18" charset="0"/>
                  </a:rPr>
                  <a:t>Brand:</a:t>
                </a:r>
                <a:r>
                  <a:rPr lang="en-US" sz="2000" b="1" dirty="0">
                    <a:solidFill>
                      <a:srgbClr val="707473"/>
                    </a:solidFill>
                    <a:effectLst/>
                    <a:latin typeface="Helvetica Neue" panose="02000503000000020004" pitchFamily="2" charset="0"/>
                    <a:ea typeface="Times New Roman" panose="02020603050405020304" pitchFamily="18" charset="0"/>
                  </a:rPr>
                  <a:t> </a:t>
                </a:r>
                <a:r>
                  <a:rPr lang="en-CY" sz="2000" dirty="0">
                    <a:effectLst/>
                    <a:latin typeface="TimesNewRomanPS"/>
                    <a:ea typeface="Times New Roman" panose="02020603050405020304" pitchFamily="18" charset="0"/>
                  </a:rPr>
                  <a:t>HRB 6S Lipo Battery EC5</a:t>
                </a:r>
                <a:endParaRPr lang="en-CY" sz="2000" dirty="0">
                  <a:effectLst/>
                  <a:latin typeface="Times New Roman" panose="02020603050405020304" pitchFamily="18" charset="0"/>
                  <a:ea typeface="Times New Roman" panose="02020603050405020304" pitchFamily="18" charset="0"/>
                </a:endParaRPr>
              </a:p>
              <a:p>
                <a:r>
                  <a:rPr lang="en-US" sz="2000" dirty="0">
                    <a:effectLst/>
                    <a:latin typeface="TimesNewRomanPS"/>
                    <a:ea typeface="Times New Roman" panose="02020603050405020304" pitchFamily="18" charset="0"/>
                  </a:rPr>
                  <a:t>Number of Batteries: 2</a:t>
                </a:r>
                <a:endParaRPr lang="en-CY" sz="2000" dirty="0">
                  <a:effectLst/>
                  <a:latin typeface="Times New Roman" panose="02020603050405020304" pitchFamily="18" charset="0"/>
                  <a:ea typeface="Times New Roman" panose="02020603050405020304" pitchFamily="18" charset="0"/>
                </a:endParaRPr>
              </a:p>
              <a:p>
                <a14:m>
                  <m:oMath xmlns:m="http://schemas.openxmlformats.org/officeDocument/2006/math">
                    <m:sSub>
                      <m:sSubPr>
                        <m:ctrlPr>
                          <a:rPr lang="en-CY" sz="2000" i="1">
                            <a:effectLst/>
                            <a:latin typeface="Cambria Math" panose="02040503050406030204" pitchFamily="18" charset="0"/>
                            <a:ea typeface="Times New Roman" panose="02020603050405020304" pitchFamily="18" charset="0"/>
                          </a:rPr>
                        </m:ctrlPr>
                      </m:sSubPr>
                      <m:e>
                        <m:r>
                          <a:rPr lang="en-US" sz="2000" i="1">
                            <a:effectLst/>
                            <a:latin typeface="Cambria Math" panose="02040503050406030204" pitchFamily="18" charset="0"/>
                            <a:ea typeface="Times New Roman" panose="02020603050405020304" pitchFamily="18" charset="0"/>
                          </a:rPr>
                          <m:t>𝑊</m:t>
                        </m:r>
                      </m:e>
                      <m:sub>
                        <m:r>
                          <a:rPr lang="en-US" sz="2000" i="1">
                            <a:effectLst/>
                            <a:latin typeface="Cambria Math" panose="02040503050406030204" pitchFamily="18" charset="0"/>
                            <a:ea typeface="Times New Roman" panose="02020603050405020304" pitchFamily="18" charset="0"/>
                          </a:rPr>
                          <m:t>𝑏</m:t>
                        </m:r>
                      </m:sub>
                    </m:sSub>
                    <m:r>
                      <a:rPr lang="en-US" sz="2000" i="1">
                        <a:effectLst/>
                        <a:latin typeface="Cambria Math" panose="02040503050406030204" pitchFamily="18" charset="0"/>
                        <a:ea typeface="Times New Roman" panose="02020603050405020304" pitchFamily="18" charset="0"/>
                      </a:rPr>
                      <m:t>(</m:t>
                    </m:r>
                    <m:r>
                      <a:rPr lang="en-US" sz="2000" i="1">
                        <a:effectLst/>
                        <a:latin typeface="Cambria Math" panose="02040503050406030204" pitchFamily="18" charset="0"/>
                        <a:ea typeface="Times New Roman" panose="02020603050405020304" pitchFamily="18" charset="0"/>
                      </a:rPr>
                      <m:t>𝑎𝑐𝑡𝑢𝑎𝑙</m:t>
                    </m:r>
                    <m:r>
                      <a:rPr lang="en-US" sz="2000" i="1">
                        <a:effectLst/>
                        <a:latin typeface="Cambria Math" panose="02040503050406030204" pitchFamily="18" charset="0"/>
                        <a:ea typeface="Times New Roman" panose="02020603050405020304" pitchFamily="18" charset="0"/>
                      </a:rPr>
                      <m:t>)=</m:t>
                    </m:r>
                  </m:oMath>
                </a14:m>
                <a:r>
                  <a:rPr lang="en-US" sz="2000" dirty="0">
                    <a:effectLst/>
                    <a:latin typeface="CambriaMath"/>
                    <a:ea typeface="Times New Roman" panose="02020603050405020304" pitchFamily="18" charset="0"/>
                  </a:rPr>
                  <a:t> </a:t>
                </a:r>
                <a:r>
                  <a:rPr lang="en-US" sz="2000" dirty="0">
                    <a:solidFill>
                      <a:srgbClr val="000000"/>
                    </a:solidFill>
                    <a:effectLst/>
                    <a:latin typeface="inherit"/>
                    <a:ea typeface="Times New Roman" panose="02020603050405020304" pitchFamily="18" charset="0"/>
                    <a:cs typeface="Open Sans" panose="020B0606030504020204" pitchFamily="34" charset="0"/>
                  </a:rPr>
                  <a:t>792</a:t>
                </a:r>
                <a:r>
                  <a:rPr lang="en-CY" sz="2000" dirty="0">
                    <a:solidFill>
                      <a:srgbClr val="000000"/>
                    </a:solidFill>
                    <a:effectLst/>
                    <a:latin typeface="inherit"/>
                    <a:ea typeface="Times New Roman" panose="02020603050405020304" pitchFamily="18" charset="0"/>
                    <a:cs typeface="Open Sans" panose="020B0606030504020204" pitchFamily="34" charset="0"/>
                  </a:rPr>
                  <a:t> g</a:t>
                </a:r>
                <a:r>
                  <a:rPr lang="en-US" sz="2000" dirty="0">
                    <a:effectLst/>
                    <a:latin typeface="Times New Roman" panose="02020603050405020304" pitchFamily="18" charset="0"/>
                    <a:ea typeface="Times New Roman" panose="02020603050405020304" pitchFamily="18" charset="0"/>
                    <a:sym typeface="Symbol" pitchFamily="2" charset="2"/>
                  </a:rPr>
                  <a:t></a:t>
                </a:r>
                <a:r>
                  <a:rPr lang="en-US" sz="2000" dirty="0">
                    <a:effectLst/>
                    <a:latin typeface="Times New Roman" panose="02020603050405020304" pitchFamily="18" charset="0"/>
                    <a:ea typeface="Times New Roman" panose="02020603050405020304" pitchFamily="18" charset="0"/>
                  </a:rPr>
                  <a:t>2=1584g</a:t>
                </a:r>
                <a:endParaRPr lang="en-CY" sz="2000" dirty="0">
                  <a:effectLst/>
                  <a:latin typeface="Times New Roman" panose="02020603050405020304" pitchFamily="18" charset="0"/>
                  <a:ea typeface="Times New Roman" panose="02020603050405020304" pitchFamily="18" charset="0"/>
                </a:endParaRPr>
              </a:p>
              <a:p>
                <a:r>
                  <a:rPr lang="en-US" sz="2000" dirty="0">
                    <a:effectLst/>
                    <a:latin typeface="CambriaMath"/>
                    <a:ea typeface="Times New Roman" panose="02020603050405020304" pitchFamily="18" charset="0"/>
                  </a:rPr>
                  <a:t>Cell count = 6S</a:t>
                </a:r>
                <a:endParaRPr lang="en-CY" sz="2000" dirty="0">
                  <a:effectLst/>
                  <a:latin typeface="Times New Roman" panose="02020603050405020304" pitchFamily="18" charset="0"/>
                  <a:ea typeface="Times New Roman" panose="02020603050405020304" pitchFamily="18" charset="0"/>
                </a:endParaRPr>
              </a:p>
              <a:p>
                <a:pPr>
                  <a:tabLst>
                    <a:tab pos="3988435" algn="l"/>
                  </a:tabLst>
                </a:pPr>
                <a14:m>
                  <m:oMath xmlns:m="http://schemas.openxmlformats.org/officeDocument/2006/math">
                    <m:sSub>
                      <m:sSubPr>
                        <m:ctrlPr>
                          <a:rPr lang="en-CY" sz="2000" i="1">
                            <a:effectLst/>
                            <a:latin typeface="Cambria Math" panose="02040503050406030204" pitchFamily="18" charset="0"/>
                            <a:ea typeface="Times New Roman" panose="02020603050405020304" pitchFamily="18" charset="0"/>
                          </a:rPr>
                        </m:ctrlPr>
                      </m:sSubPr>
                      <m:e>
                        <m:r>
                          <a:rPr lang="en-US" sz="2000" i="1">
                            <a:effectLst/>
                            <a:latin typeface="Cambria Math" panose="02040503050406030204" pitchFamily="18" charset="0"/>
                            <a:ea typeface="Times New Roman" panose="02020603050405020304" pitchFamily="18" charset="0"/>
                          </a:rPr>
                          <m:t>𝑄</m:t>
                        </m:r>
                      </m:e>
                      <m:sub>
                        <m:r>
                          <a:rPr lang="en-US" sz="2000" i="1">
                            <a:effectLst/>
                            <a:latin typeface="Cambria Math" panose="02040503050406030204" pitchFamily="18" charset="0"/>
                            <a:ea typeface="Times New Roman" panose="02020603050405020304" pitchFamily="18" charset="0"/>
                          </a:rPr>
                          <m:t>𝑏</m:t>
                        </m:r>
                      </m:sub>
                    </m:sSub>
                    <m:r>
                      <a:rPr lang="en-US" sz="2000" i="1">
                        <a:effectLst/>
                        <a:latin typeface="Cambria Math" panose="02040503050406030204" pitchFamily="18" charset="0"/>
                        <a:ea typeface="Times New Roman" panose="02020603050405020304" pitchFamily="18" charset="0"/>
                      </a:rPr>
                      <m:t>=</m:t>
                    </m:r>
                  </m:oMath>
                </a14:m>
                <a:r>
                  <a:rPr lang="en-US" sz="2000" kern="1800" dirty="0">
                    <a:solidFill>
                      <a:srgbClr val="0F1111"/>
                    </a:solidFill>
                    <a:effectLst/>
                    <a:latin typeface="Arial" panose="020B0604020202020204" pitchFamily="34" charset="0"/>
                    <a:ea typeface="Times New Roman" panose="02020603050405020304" pitchFamily="18" charset="0"/>
                  </a:rPr>
                  <a:t> </a:t>
                </a:r>
                <a:r>
                  <a:rPr lang="en-CY" sz="2000" dirty="0">
                    <a:effectLst/>
                    <a:latin typeface="Times New Roman" panose="02020603050405020304" pitchFamily="18" charset="0"/>
                    <a:ea typeface="Times New Roman" panose="02020603050405020304" pitchFamily="18" charset="0"/>
                  </a:rPr>
                  <a:t>6000mAh</a:t>
                </a:r>
                <a:r>
                  <a:rPr lang="en-US" sz="2000" dirty="0">
                    <a:effectLst/>
                    <a:latin typeface="Times New Roman" panose="02020603050405020304" pitchFamily="18" charset="0"/>
                    <a:ea typeface="Times New Roman" panose="02020603050405020304" pitchFamily="18" charset="0"/>
                    <a:sym typeface="Symbol" pitchFamily="2" charset="2"/>
                  </a:rPr>
                  <a:t></a:t>
                </a:r>
                <a:r>
                  <a:rPr lang="en-US" sz="2000" dirty="0">
                    <a:effectLst/>
                    <a:latin typeface="Times New Roman" panose="02020603050405020304" pitchFamily="18" charset="0"/>
                    <a:ea typeface="Times New Roman" panose="02020603050405020304" pitchFamily="18" charset="0"/>
                  </a:rPr>
                  <a:t>2=12Ah</a:t>
                </a:r>
                <a:endParaRPr lang="en-CY" sz="2000" dirty="0">
                  <a:effectLst/>
                  <a:latin typeface="Times New Roman" panose="02020603050405020304" pitchFamily="18" charset="0"/>
                  <a:ea typeface="Times New Roman" panose="02020603050405020304" pitchFamily="18" charset="0"/>
                </a:endParaRPr>
              </a:p>
              <a:p>
                <a:pPr>
                  <a:tabLst>
                    <a:tab pos="3988435" algn="l"/>
                  </a:tabLst>
                </a:pPr>
                <a14:m>
                  <m:oMath xmlns:m="http://schemas.openxmlformats.org/officeDocument/2006/math">
                    <m:sSub>
                      <m:sSubPr>
                        <m:ctrlPr>
                          <a:rPr lang="en-CY" sz="2000" i="1">
                            <a:effectLst/>
                            <a:latin typeface="Cambria Math" panose="02040503050406030204" pitchFamily="18" charset="0"/>
                            <a:ea typeface="Times New Roman" panose="02020603050405020304" pitchFamily="18" charset="0"/>
                          </a:rPr>
                        </m:ctrlPr>
                      </m:sSubPr>
                      <m:e>
                        <m:r>
                          <a:rPr lang="en-US" sz="2000" b="0" i="1">
                            <a:effectLst/>
                            <a:latin typeface="Cambria Math" panose="02040503050406030204" pitchFamily="18" charset="0"/>
                            <a:ea typeface="Times New Roman" panose="02020603050405020304" pitchFamily="18" charset="0"/>
                          </a:rPr>
                          <m:t>𝐶</m:t>
                        </m:r>
                      </m:e>
                      <m:sub>
                        <m:r>
                          <a:rPr lang="en-US" sz="2000" b="0" i="1">
                            <a:effectLst/>
                            <a:latin typeface="Cambria Math" panose="02040503050406030204" pitchFamily="18" charset="0"/>
                            <a:ea typeface="Times New Roman" panose="02020603050405020304" pitchFamily="18" charset="0"/>
                          </a:rPr>
                          <m:t>𝑟𝑎𝑡𝑒</m:t>
                        </m:r>
                      </m:sub>
                    </m:sSub>
                    <m:r>
                      <a:rPr lang="en-US" sz="2000" b="0" i="1">
                        <a:effectLst/>
                        <a:latin typeface="Cambria Math" panose="02040503050406030204" pitchFamily="18" charset="0"/>
                        <a:ea typeface="Times New Roman" panose="02020603050405020304" pitchFamily="18" charset="0"/>
                      </a:rPr>
                      <m:t>=</m:t>
                    </m:r>
                  </m:oMath>
                </a14:m>
                <a:r>
                  <a:rPr lang="en-US" sz="2000" dirty="0">
                    <a:solidFill>
                      <a:srgbClr val="0F1111"/>
                    </a:solidFill>
                    <a:effectLst/>
                    <a:latin typeface="Arial" panose="020B0604020202020204" pitchFamily="34" charset="0"/>
                    <a:ea typeface="Times New Roman" panose="02020603050405020304" pitchFamily="18" charset="0"/>
                  </a:rPr>
                  <a:t> </a:t>
                </a:r>
                <a:r>
                  <a:rPr lang="en-CY" sz="2000" dirty="0">
                    <a:solidFill>
                      <a:srgbClr val="0F1111"/>
                    </a:solidFill>
                    <a:effectLst/>
                    <a:latin typeface="Arial" panose="020B0604020202020204" pitchFamily="34" charset="0"/>
                    <a:ea typeface="Times New Roman" panose="02020603050405020304" pitchFamily="18" charset="0"/>
                  </a:rPr>
                  <a:t>60C</a:t>
                </a:r>
                <a:endParaRPr lang="en-CY" sz="2000" dirty="0">
                  <a:effectLst/>
                  <a:latin typeface="Times New Roman" panose="02020603050405020304" pitchFamily="18" charset="0"/>
                  <a:ea typeface="Times New Roman" panose="02020603050405020304" pitchFamily="18" charset="0"/>
                </a:endParaRPr>
              </a:p>
            </p:txBody>
          </p:sp>
        </mc:Choice>
        <mc:Fallback xmlns="">
          <p:sp>
            <p:nvSpPr>
              <p:cNvPr id="14" name="TextBox 13">
                <a:extLst>
                  <a:ext uri="{FF2B5EF4-FFF2-40B4-BE49-F238E27FC236}">
                    <a16:creationId xmlns:a16="http://schemas.microsoft.com/office/drawing/2014/main" id="{C1A1540F-F99F-1B65-3F9A-BC68DA4BFC80}"/>
                  </a:ext>
                </a:extLst>
              </p:cNvPr>
              <p:cNvSpPr txBox="1">
                <a:spLocks noRot="1" noChangeAspect="1" noMove="1" noResize="1" noEditPoints="1" noAdjustHandles="1" noChangeArrowheads="1" noChangeShapeType="1" noTextEdit="1"/>
              </p:cNvSpPr>
              <p:nvPr/>
            </p:nvSpPr>
            <p:spPr>
              <a:xfrm>
                <a:off x="368969" y="3954204"/>
                <a:ext cx="6464968" cy="2831544"/>
              </a:xfrm>
              <a:prstGeom prst="rect">
                <a:avLst/>
              </a:prstGeom>
              <a:blipFill>
                <a:blip r:embed="rId3"/>
                <a:stretch>
                  <a:fillRect l="-980" b="-2679"/>
                </a:stretch>
              </a:blipFill>
            </p:spPr>
            <p:txBody>
              <a:bodyPr/>
              <a:lstStyle/>
              <a:p>
                <a:r>
                  <a:rPr lang="en-CY">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3B1CD2E-A7CD-0401-6961-08FEF1EB1B22}"/>
                  </a:ext>
                </a:extLst>
              </p:cNvPr>
              <p:cNvSpPr txBox="1"/>
              <p:nvPr/>
            </p:nvSpPr>
            <p:spPr>
              <a:xfrm>
                <a:off x="8096378" y="1425724"/>
                <a:ext cx="1105495" cy="390748"/>
              </a:xfrm>
              <a:prstGeom prst="rect">
                <a:avLst/>
              </a:prstGeom>
              <a:noFill/>
            </p:spPr>
            <p:txBody>
              <a:bodyPr wrap="none" rtlCol="0">
                <a:spAutoFit/>
              </a:bodyPr>
              <a:lstStyle/>
              <a:p>
                <a14:m>
                  <m:oMath xmlns:m="http://schemas.openxmlformats.org/officeDocument/2006/math">
                    <m:sSub>
                      <m:sSubPr>
                        <m:ctrlPr>
                          <a:rPr lang="en-CY" sz="1800" i="1" smtClean="0">
                            <a:effectLst/>
                            <a:latin typeface="Cambria Math" panose="02040503050406030204" pitchFamily="18" charset="0"/>
                            <a:ea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rPr>
                          <m:t>𝑊</m:t>
                        </m:r>
                      </m:e>
                      <m:sub>
                        <m:r>
                          <a:rPr lang="en-US" sz="1800" b="0" i="1" smtClean="0">
                            <a:effectLst/>
                            <a:latin typeface="Cambria Math" panose="02040503050406030204" pitchFamily="18" charset="0"/>
                            <a:ea typeface="Times New Roman" panose="02020603050405020304" pitchFamily="18" charset="0"/>
                          </a:rPr>
                          <m:t>𝑝𝑙</m:t>
                        </m:r>
                      </m:sub>
                    </m:sSub>
                  </m:oMath>
                </a14:m>
                <a:r>
                  <a:rPr lang="en-CY" dirty="0"/>
                  <a:t>= 5 kg</a:t>
                </a:r>
              </a:p>
            </p:txBody>
          </p:sp>
        </mc:Choice>
        <mc:Fallback xmlns="">
          <p:sp>
            <p:nvSpPr>
              <p:cNvPr id="4" name="TextBox 3">
                <a:extLst>
                  <a:ext uri="{FF2B5EF4-FFF2-40B4-BE49-F238E27FC236}">
                    <a16:creationId xmlns:a16="http://schemas.microsoft.com/office/drawing/2014/main" id="{63B1CD2E-A7CD-0401-6961-08FEF1EB1B22}"/>
                  </a:ext>
                </a:extLst>
              </p:cNvPr>
              <p:cNvSpPr txBox="1">
                <a:spLocks noRot="1" noChangeAspect="1" noMove="1" noResize="1" noEditPoints="1" noAdjustHandles="1" noChangeArrowheads="1" noChangeShapeType="1" noTextEdit="1"/>
              </p:cNvSpPr>
              <p:nvPr/>
            </p:nvSpPr>
            <p:spPr>
              <a:xfrm>
                <a:off x="8096378" y="1425724"/>
                <a:ext cx="1105495" cy="390748"/>
              </a:xfrm>
              <a:prstGeom prst="rect">
                <a:avLst/>
              </a:prstGeom>
              <a:blipFill>
                <a:blip r:embed="rId4"/>
                <a:stretch>
                  <a:fillRect t="-9375" r="-3409" b="-18750"/>
                </a:stretch>
              </a:blipFill>
            </p:spPr>
            <p:txBody>
              <a:bodyPr/>
              <a:lstStyle/>
              <a:p>
                <a:r>
                  <a:rPr lang="en-CY">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BE4A374-A19A-6605-9457-038F89456939}"/>
                  </a:ext>
                </a:extLst>
              </p:cNvPr>
              <p:cNvSpPr txBox="1"/>
              <p:nvPr/>
            </p:nvSpPr>
            <p:spPr>
              <a:xfrm>
                <a:off x="5723173" y="2006420"/>
                <a:ext cx="6099858" cy="65768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CY" i="1" smtClean="0">
                              <a:solidFill>
                                <a:srgbClr val="836967"/>
                              </a:solidFill>
                              <a:latin typeface="Cambria Math" panose="02040503050406030204" pitchFamily="18" charset="0"/>
                            </a:rPr>
                          </m:ctrlPr>
                        </m:fPr>
                        <m:num>
                          <m:sSub>
                            <m:sSubPr>
                              <m:ctrlPr>
                                <a:rPr lang="en-CY" i="1">
                                  <a:solidFill>
                                    <a:srgbClr val="836967"/>
                                  </a:solidFill>
                                  <a:latin typeface="Cambria Math" panose="02040503050406030204" pitchFamily="18" charset="0"/>
                                </a:rPr>
                              </m:ctrlPr>
                            </m:sSubPr>
                            <m:e>
                              <m:r>
                                <a:rPr lang="en-CY" i="1">
                                  <a:latin typeface="Cambria Math" panose="02040503050406030204" pitchFamily="18" charset="0"/>
                                </a:rPr>
                                <m:t>𝑊</m:t>
                              </m:r>
                            </m:e>
                            <m:sub>
                              <m:r>
                                <a:rPr lang="en-CY" i="1">
                                  <a:latin typeface="Cambria Math" panose="02040503050406030204" pitchFamily="18" charset="0"/>
                                </a:rPr>
                                <m:t>𝑒</m:t>
                              </m:r>
                            </m:sub>
                          </m:sSub>
                        </m:num>
                        <m:den>
                          <m:sSub>
                            <m:sSubPr>
                              <m:ctrlPr>
                                <a:rPr lang="en-CY" i="1">
                                  <a:solidFill>
                                    <a:srgbClr val="836967"/>
                                  </a:solidFill>
                                  <a:latin typeface="Cambria Math" panose="02040503050406030204" pitchFamily="18" charset="0"/>
                                </a:rPr>
                              </m:ctrlPr>
                            </m:sSubPr>
                            <m:e>
                              <m:r>
                                <a:rPr lang="en-CY" i="1">
                                  <a:latin typeface="Cambria Math" panose="02040503050406030204" pitchFamily="18" charset="0"/>
                                </a:rPr>
                                <m:t>𝑊</m:t>
                              </m:r>
                            </m:e>
                            <m:sub>
                              <m:r>
                                <a:rPr lang="en-CY" i="1">
                                  <a:latin typeface="Cambria Math" panose="02040503050406030204" pitchFamily="18" charset="0"/>
                                </a:rPr>
                                <m:t>𝑜</m:t>
                              </m:r>
                            </m:sub>
                          </m:sSub>
                        </m:den>
                      </m:f>
                      <m:r>
                        <a:rPr lang="en-CY" i="0">
                          <a:latin typeface="Cambria Math" panose="02040503050406030204" pitchFamily="18" charset="0"/>
                        </a:rPr>
                        <m:t>=0.386</m:t>
                      </m:r>
                    </m:oMath>
                  </m:oMathPara>
                </a14:m>
                <a:endParaRPr lang="en-CY" dirty="0"/>
              </a:p>
            </p:txBody>
          </p:sp>
        </mc:Choice>
        <mc:Fallback xmlns="">
          <p:sp>
            <p:nvSpPr>
              <p:cNvPr id="7" name="TextBox 6">
                <a:extLst>
                  <a:ext uri="{FF2B5EF4-FFF2-40B4-BE49-F238E27FC236}">
                    <a16:creationId xmlns:a16="http://schemas.microsoft.com/office/drawing/2014/main" id="{6BE4A374-A19A-6605-9457-038F89456939}"/>
                  </a:ext>
                </a:extLst>
              </p:cNvPr>
              <p:cNvSpPr txBox="1">
                <a:spLocks noRot="1" noChangeAspect="1" noMove="1" noResize="1" noEditPoints="1" noAdjustHandles="1" noChangeArrowheads="1" noChangeShapeType="1" noTextEdit="1"/>
              </p:cNvSpPr>
              <p:nvPr/>
            </p:nvSpPr>
            <p:spPr>
              <a:xfrm>
                <a:off x="5723173" y="2006420"/>
                <a:ext cx="6099858" cy="657681"/>
              </a:xfrm>
              <a:prstGeom prst="rect">
                <a:avLst/>
              </a:prstGeom>
              <a:blipFill>
                <a:blip r:embed="rId5"/>
                <a:stretch>
                  <a:fillRect/>
                </a:stretch>
              </a:blipFill>
            </p:spPr>
            <p:txBody>
              <a:bodyPr/>
              <a:lstStyle/>
              <a:p>
                <a:r>
                  <a:rPr lang="en-CY">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1469260-FB85-2E3F-55F0-8278E7B1E7FE}"/>
                  </a:ext>
                </a:extLst>
              </p:cNvPr>
              <p:cNvSpPr txBox="1"/>
              <p:nvPr/>
            </p:nvSpPr>
            <p:spPr>
              <a:xfrm>
                <a:off x="5838920" y="2854049"/>
                <a:ext cx="609985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CY" i="1" smtClean="0">
                              <a:solidFill>
                                <a:srgbClr val="836967"/>
                              </a:solidFill>
                              <a:latin typeface="Cambria Math" panose="02040503050406030204" pitchFamily="18" charset="0"/>
                            </a:rPr>
                          </m:ctrlPr>
                        </m:sSubPr>
                        <m:e>
                          <m:r>
                            <a:rPr lang="en-CY" i="1">
                              <a:latin typeface="Cambria Math" panose="02040503050406030204" pitchFamily="18" charset="0"/>
                            </a:rPr>
                            <m:t>𝑊</m:t>
                          </m:r>
                        </m:e>
                        <m:sub>
                          <m:r>
                            <a:rPr lang="en-CY" i="1">
                              <a:latin typeface="Cambria Math" panose="02040503050406030204" pitchFamily="18" charset="0"/>
                            </a:rPr>
                            <m:t>𝑒</m:t>
                          </m:r>
                        </m:sub>
                      </m:sSub>
                      <m:r>
                        <a:rPr lang="en-CY" i="0">
                          <a:latin typeface="Cambria Math" panose="02040503050406030204" pitchFamily="18" charset="0"/>
                        </a:rPr>
                        <m:t>=5.18 </m:t>
                      </m:r>
                      <m:r>
                        <a:rPr lang="en-CY" i="1">
                          <a:latin typeface="Cambria Math" panose="02040503050406030204" pitchFamily="18" charset="0"/>
                        </a:rPr>
                        <m:t>𝑘𝑔</m:t>
                      </m:r>
                    </m:oMath>
                  </m:oMathPara>
                </a14:m>
                <a:endParaRPr lang="en-CY" dirty="0"/>
              </a:p>
            </p:txBody>
          </p:sp>
        </mc:Choice>
        <mc:Fallback xmlns="">
          <p:sp>
            <p:nvSpPr>
              <p:cNvPr id="10" name="TextBox 9">
                <a:extLst>
                  <a:ext uri="{FF2B5EF4-FFF2-40B4-BE49-F238E27FC236}">
                    <a16:creationId xmlns:a16="http://schemas.microsoft.com/office/drawing/2014/main" id="{E1469260-FB85-2E3F-55F0-8278E7B1E7FE}"/>
                  </a:ext>
                </a:extLst>
              </p:cNvPr>
              <p:cNvSpPr txBox="1">
                <a:spLocks noRot="1" noChangeAspect="1" noMove="1" noResize="1" noEditPoints="1" noAdjustHandles="1" noChangeArrowheads="1" noChangeShapeType="1" noTextEdit="1"/>
              </p:cNvSpPr>
              <p:nvPr/>
            </p:nvSpPr>
            <p:spPr>
              <a:xfrm>
                <a:off x="5838920" y="2854049"/>
                <a:ext cx="6099858" cy="369332"/>
              </a:xfrm>
              <a:prstGeom prst="rect">
                <a:avLst/>
              </a:prstGeom>
              <a:blipFill>
                <a:blip r:embed="rId6"/>
                <a:stretch>
                  <a:fillRect b="-16667"/>
                </a:stretch>
              </a:blipFill>
            </p:spPr>
            <p:txBody>
              <a:bodyPr/>
              <a:lstStyle/>
              <a:p>
                <a:r>
                  <a:rPr lang="en-CY">
                    <a:noFill/>
                  </a:rPr>
                  <a:t> </a:t>
                </a:r>
              </a:p>
            </p:txBody>
          </p:sp>
        </mc:Fallback>
      </mc:AlternateContent>
    </p:spTree>
    <p:extLst>
      <p:ext uri="{BB962C8B-B14F-4D97-AF65-F5344CB8AC3E}">
        <p14:creationId xmlns:p14="http://schemas.microsoft.com/office/powerpoint/2010/main" val="576651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1F764ED-08FD-523B-D1D3-BF6974A205C8}"/>
                  </a:ext>
                </a:extLst>
              </p:cNvPr>
              <p:cNvSpPr txBox="1"/>
              <p:nvPr/>
            </p:nvSpPr>
            <p:spPr>
              <a:xfrm>
                <a:off x="497306" y="1612921"/>
                <a:ext cx="6096000" cy="1200329"/>
              </a:xfrm>
              <a:prstGeom prst="rect">
                <a:avLst/>
              </a:prstGeom>
              <a:noFill/>
            </p:spPr>
            <p:txBody>
              <a:bodyPr wrap="square">
                <a:spAutoFit/>
              </a:bodyPr>
              <a:lstStyle/>
              <a:p>
                <a:r>
                  <a:rPr lang="en-US" sz="1800" dirty="0">
                    <a:effectLst/>
                    <a:latin typeface="Times New Roman" panose="02020603050405020304" pitchFamily="18" charset="0"/>
                    <a:ea typeface="Times New Roman" panose="02020603050405020304" pitchFamily="18" charset="0"/>
                  </a:rPr>
                  <a:t>Brand: </a:t>
                </a:r>
                <a:r>
                  <a:rPr lang="en-CY" sz="1800" dirty="0">
                    <a:effectLst/>
                    <a:latin typeface="Times New Roman" panose="02020603050405020304" pitchFamily="18" charset="0"/>
                    <a:ea typeface="Times New Roman" panose="02020603050405020304" pitchFamily="18" charset="0"/>
                  </a:rPr>
                  <a:t>Tempest Brushless ESC</a:t>
                </a:r>
              </a:p>
              <a:p>
                <a:r>
                  <a:rPr lang="en-US" sz="1800" dirty="0">
                    <a:effectLst/>
                    <a:latin typeface="Times New Roman" panose="02020603050405020304" pitchFamily="18" charset="0"/>
                    <a:ea typeface="Times New Roman" panose="02020603050405020304" pitchFamily="18" charset="0"/>
                  </a:rPr>
                  <a:t>Number of ESC: 8</a:t>
                </a:r>
                <a:endParaRPr lang="en-CY" sz="1800" dirty="0">
                  <a:effectLst/>
                  <a:latin typeface="Times New Roman" panose="02020603050405020304" pitchFamily="18" charset="0"/>
                  <a:ea typeface="Times New Roman" panose="02020603050405020304" pitchFamily="18" charset="0"/>
                </a:endParaRPr>
              </a:p>
              <a:p>
                <a14:m>
                  <m:oMath xmlns:m="http://schemas.openxmlformats.org/officeDocument/2006/math">
                    <m:sSub>
                      <m:sSubPr>
                        <m:ctrlPr>
                          <a:rPr lang="en-CY" sz="1800" i="1">
                            <a:effectLst/>
                            <a:latin typeface="Cambria Math" panose="02040503050406030204" pitchFamily="18" charset="0"/>
                            <a:ea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rPr>
                          <m:t>𝑊</m:t>
                        </m:r>
                      </m:e>
                      <m:sub>
                        <m:r>
                          <a:rPr lang="en-US" sz="1800" i="1">
                            <a:effectLst/>
                            <a:latin typeface="Cambria Math" panose="02040503050406030204" pitchFamily="18" charset="0"/>
                            <a:ea typeface="Times New Roman" panose="02020603050405020304" pitchFamily="18" charset="0"/>
                          </a:rPr>
                          <m:t>𝐸𝑆𝐶</m:t>
                        </m:r>
                      </m:sub>
                    </m:sSub>
                  </m:oMath>
                </a14:m>
                <a:r>
                  <a:rPr lang="en-US" sz="1800" dirty="0">
                    <a:effectLst/>
                    <a:latin typeface="Times New Roman" panose="02020603050405020304" pitchFamily="18" charset="0"/>
                    <a:ea typeface="Times New Roman" panose="02020603050405020304" pitchFamily="18" charset="0"/>
                  </a:rPr>
                  <a:t>=</a:t>
                </a:r>
                <a:r>
                  <a:rPr lang="en-US" sz="1400" b="1" dirty="0">
                    <a:solidFill>
                      <a:srgbClr val="202124"/>
                    </a:solidFill>
                    <a:effectLst/>
                    <a:latin typeface="Arial" panose="020B0604020202020204" pitchFamily="34" charset="0"/>
                    <a:ea typeface="Times New Roman" panose="02020603050405020304" pitchFamily="18" charset="0"/>
                  </a:rPr>
                  <a:t> </a:t>
                </a:r>
                <a:r>
                  <a:rPr lang="en-CY" sz="1800" dirty="0">
                    <a:effectLst/>
                    <a:latin typeface="Times New Roman" panose="02020603050405020304" pitchFamily="18" charset="0"/>
                    <a:ea typeface="Times New Roman" panose="02020603050405020304" pitchFamily="18" charset="0"/>
                  </a:rPr>
                  <a:t>59.6g</a:t>
                </a:r>
              </a:p>
              <a:p>
                <a14:m>
                  <m:oMath xmlns:m="http://schemas.openxmlformats.org/officeDocument/2006/math">
                    <m:sSub>
                      <m:sSubPr>
                        <m:ctrlPr>
                          <a:rPr lang="en-CY" sz="1800" i="1">
                            <a:effectLst/>
                            <a:latin typeface="Cambria Math" panose="02040503050406030204" pitchFamily="18" charset="0"/>
                            <a:ea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rPr>
                          <m:t>𝐴</m:t>
                        </m:r>
                      </m:e>
                      <m:sub>
                        <m:r>
                          <a:rPr lang="en-US" sz="1800" i="1">
                            <a:effectLst/>
                            <a:latin typeface="Cambria Math" panose="02040503050406030204" pitchFamily="18" charset="0"/>
                            <a:ea typeface="Times New Roman" panose="02020603050405020304" pitchFamily="18" charset="0"/>
                          </a:rPr>
                          <m:t>𝑐𝑜𝑛𝑡</m:t>
                        </m:r>
                        <m:r>
                          <a:rPr lang="en-US" sz="1800" i="1">
                            <a:effectLst/>
                            <a:latin typeface="Cambria Math" panose="02040503050406030204" pitchFamily="18" charset="0"/>
                            <a:ea typeface="Times New Roman" panose="02020603050405020304" pitchFamily="18" charset="0"/>
                          </a:rPr>
                          <m:t> </m:t>
                        </m:r>
                      </m:sub>
                    </m:sSub>
                  </m:oMath>
                </a14:m>
                <a:r>
                  <a:rPr lang="en-US" sz="1800" dirty="0">
                    <a:effectLst/>
                    <a:latin typeface="Times New Roman" panose="02020603050405020304" pitchFamily="18" charset="0"/>
                    <a:ea typeface="Times New Roman" panose="02020603050405020304" pitchFamily="18" charset="0"/>
                  </a:rPr>
                  <a:t>= 60A</a:t>
                </a:r>
                <a:endParaRPr lang="en-CY" sz="1800" dirty="0">
                  <a:effectLst/>
                  <a:latin typeface="Times New Roman" panose="02020603050405020304" pitchFamily="18" charset="0"/>
                  <a:ea typeface="Times New Roman" panose="02020603050405020304" pitchFamily="18" charset="0"/>
                </a:endParaRPr>
              </a:p>
            </p:txBody>
          </p:sp>
        </mc:Choice>
        <mc:Fallback xmlns="">
          <p:sp>
            <p:nvSpPr>
              <p:cNvPr id="4" name="TextBox 3">
                <a:extLst>
                  <a:ext uri="{FF2B5EF4-FFF2-40B4-BE49-F238E27FC236}">
                    <a16:creationId xmlns:a16="http://schemas.microsoft.com/office/drawing/2014/main" id="{31F764ED-08FD-523B-D1D3-BF6974A205C8}"/>
                  </a:ext>
                </a:extLst>
              </p:cNvPr>
              <p:cNvSpPr txBox="1">
                <a:spLocks noRot="1" noChangeAspect="1" noMove="1" noResize="1" noEditPoints="1" noAdjustHandles="1" noChangeArrowheads="1" noChangeShapeType="1" noTextEdit="1"/>
              </p:cNvSpPr>
              <p:nvPr/>
            </p:nvSpPr>
            <p:spPr>
              <a:xfrm>
                <a:off x="497306" y="1612921"/>
                <a:ext cx="6096000" cy="1200329"/>
              </a:xfrm>
              <a:prstGeom prst="rect">
                <a:avLst/>
              </a:prstGeom>
              <a:blipFill>
                <a:blip r:embed="rId2"/>
                <a:stretch>
                  <a:fillRect l="-832" t="-3158" b="-7368"/>
                </a:stretch>
              </a:blipFill>
            </p:spPr>
            <p:txBody>
              <a:bodyPr/>
              <a:lstStyle/>
              <a:p>
                <a:r>
                  <a:rPr lang="en-CY">
                    <a:noFill/>
                  </a:rPr>
                  <a:t> </a:t>
                </a:r>
              </a:p>
            </p:txBody>
          </p:sp>
        </mc:Fallback>
      </mc:AlternateContent>
      <p:sp>
        <p:nvSpPr>
          <p:cNvPr id="6" name="TextBox 5">
            <a:extLst>
              <a:ext uri="{FF2B5EF4-FFF2-40B4-BE49-F238E27FC236}">
                <a16:creationId xmlns:a16="http://schemas.microsoft.com/office/drawing/2014/main" id="{423EE31F-9291-89E3-3AEC-D74A77DE599D}"/>
              </a:ext>
            </a:extLst>
          </p:cNvPr>
          <p:cNvSpPr txBox="1"/>
          <p:nvPr/>
        </p:nvSpPr>
        <p:spPr>
          <a:xfrm>
            <a:off x="497306" y="1018491"/>
            <a:ext cx="6096000" cy="369332"/>
          </a:xfrm>
          <a:prstGeom prst="rect">
            <a:avLst/>
          </a:prstGeom>
          <a:noFill/>
        </p:spPr>
        <p:txBody>
          <a:bodyPr wrap="square">
            <a:spAutoFit/>
          </a:bodyPr>
          <a:lstStyle/>
          <a:p>
            <a:r>
              <a:rPr lang="en-CY" sz="1800" b="1" dirty="0">
                <a:effectLst/>
                <a:latin typeface="TimesNewRomanPS"/>
                <a:ea typeface="Times New Roman" panose="02020603050405020304" pitchFamily="18" charset="0"/>
              </a:rPr>
              <a:t>Electronic Speed Controller </a:t>
            </a:r>
            <a:endParaRPr lang="en-CY" sz="1800" dirty="0">
              <a:effectLst/>
              <a:latin typeface="Times New Roman" panose="02020603050405020304" pitchFamily="18" charset="0"/>
              <a:ea typeface="Times New Roman" panose="02020603050405020304" pitchFamily="18" charset="0"/>
            </a:endParaRPr>
          </a:p>
        </p:txBody>
      </p:sp>
      <p:sp>
        <p:nvSpPr>
          <p:cNvPr id="9" name="TextBox 8">
            <a:extLst>
              <a:ext uri="{FF2B5EF4-FFF2-40B4-BE49-F238E27FC236}">
                <a16:creationId xmlns:a16="http://schemas.microsoft.com/office/drawing/2014/main" id="{792146C1-A14C-146C-84B6-CC908A31D444}"/>
              </a:ext>
            </a:extLst>
          </p:cNvPr>
          <p:cNvSpPr txBox="1"/>
          <p:nvPr/>
        </p:nvSpPr>
        <p:spPr>
          <a:xfrm>
            <a:off x="497306" y="3279048"/>
            <a:ext cx="6096000" cy="1815882"/>
          </a:xfrm>
          <a:prstGeom prst="rect">
            <a:avLst/>
          </a:prstGeom>
          <a:noFill/>
        </p:spPr>
        <p:txBody>
          <a:bodyPr wrap="square">
            <a:spAutoFit/>
          </a:bodyPr>
          <a:lstStyle/>
          <a:p>
            <a:pPr>
              <a:tabLst>
                <a:tab pos="3988435" algn="l"/>
              </a:tabLst>
            </a:pPr>
            <a:r>
              <a:rPr lang="en-US" sz="2000" b="1" dirty="0">
                <a:effectLst/>
                <a:latin typeface="Times New Roman" panose="02020603050405020304" pitchFamily="18" charset="0"/>
                <a:ea typeface="Times New Roman" panose="02020603050405020304" pitchFamily="18" charset="0"/>
              </a:rPr>
              <a:t>Radio transmitter and Receiver</a:t>
            </a:r>
            <a:endParaRPr lang="en-CY" sz="1800" dirty="0">
              <a:effectLst/>
              <a:latin typeface="Times New Roman" panose="02020603050405020304" pitchFamily="18" charset="0"/>
              <a:ea typeface="Times New Roman" panose="02020603050405020304" pitchFamily="18" charset="0"/>
            </a:endParaRPr>
          </a:p>
          <a:p>
            <a:pPr>
              <a:tabLst>
                <a:tab pos="3988435" algn="l"/>
              </a:tabLst>
            </a:pPr>
            <a:r>
              <a:rPr lang="en-US" sz="2000" b="1" dirty="0">
                <a:effectLst/>
                <a:latin typeface="Times New Roman" panose="02020603050405020304" pitchFamily="18" charset="0"/>
                <a:ea typeface="Times New Roman" panose="02020603050405020304" pitchFamily="18" charset="0"/>
              </a:rPr>
              <a:t> </a:t>
            </a:r>
            <a:endParaRPr lang="en-CY" sz="1800" dirty="0">
              <a:effectLst/>
              <a:latin typeface="Times New Roman" panose="02020603050405020304" pitchFamily="18" charset="0"/>
              <a:ea typeface="Times New Roman" panose="02020603050405020304" pitchFamily="18" charset="0"/>
            </a:endParaRPr>
          </a:p>
          <a:p>
            <a:pPr>
              <a:tabLst>
                <a:tab pos="3988435" algn="l"/>
              </a:tabLst>
            </a:pPr>
            <a:r>
              <a:rPr lang="en-US" sz="1800" dirty="0">
                <a:solidFill>
                  <a:srgbClr val="000000"/>
                </a:solidFill>
                <a:effectLst/>
                <a:latin typeface="Times New Roman" panose="02020603050405020304" pitchFamily="18" charset="0"/>
                <a:ea typeface="Times New Roman" panose="02020603050405020304" pitchFamily="18" charset="0"/>
              </a:rPr>
              <a:t>Brand:</a:t>
            </a:r>
            <a:r>
              <a:rPr lang="en-CY" sz="1800" dirty="0">
                <a:solidFill>
                  <a:srgbClr val="000000"/>
                </a:solidFill>
                <a:effectLst/>
                <a:latin typeface="Times New Roman" panose="02020603050405020304" pitchFamily="18" charset="0"/>
                <a:ea typeface="Times New Roman" panose="02020603050405020304" pitchFamily="18" charset="0"/>
              </a:rPr>
              <a:t> DJI Cendence S Remote Controller</a:t>
            </a:r>
            <a:endParaRPr lang="en-CY" sz="1800" dirty="0">
              <a:effectLst/>
              <a:latin typeface="Times New Roman" panose="02020603050405020304" pitchFamily="18" charset="0"/>
              <a:ea typeface="Times New Roman" panose="02020603050405020304" pitchFamily="18" charset="0"/>
            </a:endParaRPr>
          </a:p>
          <a:p>
            <a:pPr>
              <a:tabLst>
                <a:tab pos="3988435" algn="l"/>
              </a:tabLst>
            </a:pPr>
            <a:r>
              <a:rPr lang="en-CY" sz="1800" dirty="0">
                <a:solidFill>
                  <a:srgbClr val="000000"/>
                </a:solidFill>
                <a:effectLst/>
                <a:latin typeface="Times New Roman" panose="02020603050405020304" pitchFamily="18" charset="0"/>
                <a:ea typeface="Times New Roman" panose="02020603050405020304" pitchFamily="18" charset="0"/>
              </a:rPr>
              <a:t>Display: It features a 5.5-inch 1920x1080p</a:t>
            </a:r>
            <a:endParaRPr lang="en-CY" sz="1800" dirty="0">
              <a:effectLst/>
              <a:latin typeface="Times New Roman" panose="02020603050405020304" pitchFamily="18" charset="0"/>
              <a:ea typeface="Times New Roman" panose="02020603050405020304" pitchFamily="18" charset="0"/>
            </a:endParaRPr>
          </a:p>
          <a:p>
            <a:r>
              <a:rPr lang="en-US" sz="1800" kern="0" dirty="0">
                <a:solidFill>
                  <a:srgbClr val="000000"/>
                </a:solidFill>
                <a:effectLst/>
                <a:latin typeface="Times New Roman" panose="02020603050405020304" pitchFamily="18" charset="0"/>
                <a:ea typeface="Times New Roman" panose="02020603050405020304" pitchFamily="18" charset="0"/>
              </a:rPr>
              <a:t>M</a:t>
            </a:r>
            <a:r>
              <a:rPr lang="en-CY" sz="1800" kern="0" dirty="0">
                <a:solidFill>
                  <a:srgbClr val="000000"/>
                </a:solidFill>
                <a:effectLst/>
                <a:latin typeface="Times New Roman" panose="02020603050405020304" pitchFamily="18" charset="0"/>
                <a:ea typeface="Times New Roman" panose="02020603050405020304" pitchFamily="18" charset="0"/>
              </a:rPr>
              <a:t>aximum Transmission Distance: up to 7 kilometers in unobstructed environments</a:t>
            </a:r>
            <a:r>
              <a:rPr lang="en-CY" dirty="0">
                <a:effectLst/>
              </a:rPr>
              <a:t> </a:t>
            </a:r>
            <a:endParaRPr lang="en-CY" dirty="0"/>
          </a:p>
        </p:txBody>
      </p:sp>
      <p:sp>
        <p:nvSpPr>
          <p:cNvPr id="10" name="TextBox 9">
            <a:extLst>
              <a:ext uri="{FF2B5EF4-FFF2-40B4-BE49-F238E27FC236}">
                <a16:creationId xmlns:a16="http://schemas.microsoft.com/office/drawing/2014/main" id="{70C9FB0B-C5AD-3B8C-2DDB-C721E439B41D}"/>
              </a:ext>
            </a:extLst>
          </p:cNvPr>
          <p:cNvSpPr txBox="1"/>
          <p:nvPr/>
        </p:nvSpPr>
        <p:spPr>
          <a:xfrm>
            <a:off x="497306" y="5410037"/>
            <a:ext cx="6861174" cy="1200329"/>
          </a:xfrm>
          <a:prstGeom prst="rect">
            <a:avLst/>
          </a:prstGeom>
          <a:noFill/>
        </p:spPr>
        <p:txBody>
          <a:bodyPr wrap="none" rtlCol="0">
            <a:spAutoFit/>
          </a:bodyPr>
          <a:lstStyle/>
          <a:p>
            <a:r>
              <a:rPr lang="en-US" sz="1800" b="1" dirty="0">
                <a:solidFill>
                  <a:srgbClr val="000000"/>
                </a:solidFill>
                <a:effectLst/>
                <a:latin typeface="Times New Roman" panose="02020603050405020304" pitchFamily="18" charset="0"/>
                <a:ea typeface="Times New Roman" panose="02020603050405020304" pitchFamily="18" charset="0"/>
              </a:rPr>
              <a:t>Maximum service ceiling </a:t>
            </a:r>
          </a:p>
          <a:p>
            <a:endParaRPr lang="en-US" sz="1800" b="1" dirty="0">
              <a:solidFill>
                <a:srgbClr val="000000"/>
              </a:solidFill>
              <a:effectLst/>
              <a:latin typeface="Times New Roman" panose="02020603050405020304" pitchFamily="18" charset="0"/>
              <a:ea typeface="Times New Roman" panose="02020603050405020304" pitchFamily="18" charset="0"/>
            </a:endParaRPr>
          </a:p>
          <a:p>
            <a:r>
              <a:rPr lang="en-CY" sz="1800" kern="0" dirty="0">
                <a:solidFill>
                  <a:srgbClr val="000000"/>
                </a:solidFill>
                <a:effectLst/>
                <a:latin typeface="Times New Roman" panose="02020603050405020304" pitchFamily="18" charset="0"/>
                <a:ea typeface="Times New Roman" panose="02020603050405020304" pitchFamily="18" charset="0"/>
              </a:rPr>
              <a:t>maximum flight distance at 500 meters from the initial takeoff location</a:t>
            </a:r>
            <a:r>
              <a:rPr lang="en-CY" dirty="0">
                <a:effectLst/>
              </a:rPr>
              <a:t> </a:t>
            </a:r>
            <a:r>
              <a:rPr lang="en-US" sz="1800" b="1" dirty="0">
                <a:solidFill>
                  <a:srgbClr val="000000"/>
                </a:solidFill>
                <a:effectLst/>
                <a:latin typeface="Times New Roman" panose="02020603050405020304" pitchFamily="18" charset="0"/>
                <a:ea typeface="Times New Roman" panose="02020603050405020304" pitchFamily="18" charset="0"/>
              </a:rPr>
              <a:t> </a:t>
            </a:r>
            <a:endParaRPr lang="en-CY" sz="1800" dirty="0">
              <a:effectLst/>
              <a:latin typeface="Times New Roman" panose="02020603050405020304" pitchFamily="18" charset="0"/>
              <a:ea typeface="Times New Roman" panose="02020603050405020304" pitchFamily="18" charset="0"/>
            </a:endParaRPr>
          </a:p>
          <a:p>
            <a:endParaRPr lang="en-CY" dirty="0"/>
          </a:p>
        </p:txBody>
      </p:sp>
    </p:spTree>
    <p:extLst>
      <p:ext uri="{BB962C8B-B14F-4D97-AF65-F5344CB8AC3E}">
        <p14:creationId xmlns:p14="http://schemas.microsoft.com/office/powerpoint/2010/main" val="40782452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63BAF-28FE-9948-8232-3671FD24381A}"/>
              </a:ext>
            </a:extLst>
          </p:cNvPr>
          <p:cNvSpPr>
            <a:spLocks noGrp="1"/>
          </p:cNvSpPr>
          <p:nvPr>
            <p:ph type="title"/>
          </p:nvPr>
        </p:nvSpPr>
        <p:spPr>
          <a:xfrm>
            <a:off x="741130" y="168814"/>
            <a:ext cx="10040956" cy="904970"/>
          </a:xfrm>
        </p:spPr>
        <p:txBody>
          <a:bodyPr vert="horz" lIns="91440" tIns="45720" rIns="91440" bIns="45720" rtlCol="0" anchor="ctr">
            <a:normAutofit/>
          </a:bodyPr>
          <a:lstStyle/>
          <a:p>
            <a:pPr algn="ctr">
              <a:lnSpc>
                <a:spcPct val="90000"/>
              </a:lnSpc>
            </a:pPr>
            <a:r>
              <a:rPr lang="en-US" b="1" dirty="0"/>
              <a:t>Technical Drawing of Quadcopter</a:t>
            </a:r>
          </a:p>
        </p:txBody>
      </p:sp>
      <p:pic>
        <p:nvPicPr>
          <p:cNvPr id="11" name="Content Placeholder 10">
            <a:extLst>
              <a:ext uri="{FF2B5EF4-FFF2-40B4-BE49-F238E27FC236}">
                <a16:creationId xmlns:a16="http://schemas.microsoft.com/office/drawing/2014/main" id="{E069F6B1-5E57-289E-CC29-8BCDB8E3E88B}"/>
              </a:ext>
            </a:extLst>
          </p:cNvPr>
          <p:cNvPicPr>
            <a:picLocks noGrp="1" noChangeAspect="1"/>
          </p:cNvPicPr>
          <p:nvPr>
            <p:ph idx="1"/>
          </p:nvPr>
        </p:nvPicPr>
        <p:blipFill>
          <a:blip r:embed="rId2"/>
          <a:stretch>
            <a:fillRect/>
          </a:stretch>
        </p:blipFill>
        <p:spPr>
          <a:xfrm>
            <a:off x="1681532" y="1073784"/>
            <a:ext cx="8160152" cy="5559916"/>
          </a:xfrm>
        </p:spPr>
      </p:pic>
    </p:spTree>
    <p:extLst>
      <p:ext uri="{BB962C8B-B14F-4D97-AF65-F5344CB8AC3E}">
        <p14:creationId xmlns:p14="http://schemas.microsoft.com/office/powerpoint/2010/main" val="41606646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36AC44D-0F30-B936-D476-FF34108F8598}"/>
              </a:ext>
            </a:extLst>
          </p:cNvPr>
          <p:cNvSpPr txBox="1"/>
          <p:nvPr/>
        </p:nvSpPr>
        <p:spPr>
          <a:xfrm>
            <a:off x="2268639" y="312516"/>
            <a:ext cx="7257326" cy="461665"/>
          </a:xfrm>
          <a:prstGeom prst="rect">
            <a:avLst/>
          </a:prstGeom>
          <a:noFill/>
        </p:spPr>
        <p:txBody>
          <a:bodyPr wrap="square" rtlCol="0">
            <a:spAutoFit/>
          </a:bodyPr>
          <a:lstStyle/>
          <a:p>
            <a:r>
              <a:rPr lang="en-CY" sz="2400" b="1" dirty="0">
                <a:latin typeface="Times New Roman" panose="02020603050405020304" pitchFamily="18" charset="0"/>
                <a:cs typeface="Times New Roman" panose="02020603050405020304" pitchFamily="18" charset="0"/>
              </a:rPr>
              <a:t>Why </a:t>
            </a:r>
            <a:r>
              <a:rPr lang="en-GB" sz="2400" b="1" dirty="0">
                <a:latin typeface="Times New Roman" panose="02020603050405020304" pitchFamily="18" charset="0"/>
                <a:cs typeface="Times New Roman" panose="02020603050405020304" pitchFamily="18" charset="0"/>
              </a:rPr>
              <a:t>I</a:t>
            </a:r>
            <a:r>
              <a:rPr lang="en-CY" sz="2400" b="1" dirty="0">
                <a:latin typeface="Times New Roman" panose="02020603050405020304" pitchFamily="18" charset="0"/>
                <a:cs typeface="Times New Roman" panose="02020603050405020304" pitchFamily="18" charset="0"/>
              </a:rPr>
              <a:t> chose the Coaxial rotor over traditional rotors</a:t>
            </a:r>
          </a:p>
        </p:txBody>
      </p:sp>
      <p:sp>
        <p:nvSpPr>
          <p:cNvPr id="5" name="TextBox 4">
            <a:extLst>
              <a:ext uri="{FF2B5EF4-FFF2-40B4-BE49-F238E27FC236}">
                <a16:creationId xmlns:a16="http://schemas.microsoft.com/office/drawing/2014/main" id="{ADB734E3-A2EE-B1CE-CCFF-5D673B5D77D7}"/>
              </a:ext>
            </a:extLst>
          </p:cNvPr>
          <p:cNvSpPr txBox="1"/>
          <p:nvPr/>
        </p:nvSpPr>
        <p:spPr>
          <a:xfrm>
            <a:off x="1527857" y="2326511"/>
            <a:ext cx="8206452" cy="1938992"/>
          </a:xfrm>
          <a:prstGeom prst="rect">
            <a:avLst/>
          </a:prstGeom>
          <a:noFill/>
        </p:spPr>
        <p:txBody>
          <a:bodyPr wrap="square" rtlCol="0">
            <a:spAutoFit/>
          </a:bodyPr>
          <a:lstStyle/>
          <a:p>
            <a:pPr marL="457200" indent="-457200">
              <a:buFont typeface="Arial" panose="020B0604020202020204" pitchFamily="34" charset="0"/>
              <a:buChar char="•"/>
            </a:pPr>
            <a:r>
              <a:rPr lang="en-CY" sz="2400" dirty="0">
                <a:effectLst/>
                <a:latin typeface="Times New Roman" panose="02020603050405020304" pitchFamily="18" charset="0"/>
                <a:ea typeface="Calibri" panose="020F0502020204030204" pitchFamily="34" charset="0"/>
                <a:cs typeface="Times New Roman" panose="02020603050405020304" pitchFamily="18" charset="0"/>
              </a:rPr>
              <a:t>Enhanced Stability</a:t>
            </a:r>
            <a:r>
              <a:rPr lang="en-CY" sz="2400" dirty="0">
                <a:effectLst/>
                <a:latin typeface="Times New Roman" panose="02020603050405020304" pitchFamily="18" charset="0"/>
                <a:cs typeface="Times New Roman" panose="02020603050405020304" pitchFamily="18" charset="0"/>
              </a:rPr>
              <a:t> </a:t>
            </a:r>
          </a:p>
          <a:p>
            <a:pPr marL="457200" indent="-457200">
              <a:buFont typeface="Arial" panose="020B0604020202020204" pitchFamily="34" charset="0"/>
              <a:buChar char="•"/>
            </a:pPr>
            <a:r>
              <a:rPr lang="en-CY" sz="2400" dirty="0">
                <a:effectLst/>
                <a:latin typeface="Times New Roman" panose="02020603050405020304" pitchFamily="18" charset="0"/>
                <a:ea typeface="Calibri" panose="020F0502020204030204" pitchFamily="34" charset="0"/>
                <a:cs typeface="Times New Roman" panose="02020603050405020304" pitchFamily="18" charset="0"/>
              </a:rPr>
              <a:t>Increased Lift Capacity</a:t>
            </a:r>
            <a:r>
              <a:rPr lang="en-CY" sz="2400" dirty="0">
                <a:effectLst/>
                <a:latin typeface="Times New Roman" panose="02020603050405020304" pitchFamily="18" charset="0"/>
                <a:cs typeface="Times New Roman" panose="02020603050405020304" pitchFamily="18" charset="0"/>
              </a:rPr>
              <a:t> </a:t>
            </a:r>
          </a:p>
          <a:p>
            <a:pPr marL="457200" indent="-457200">
              <a:buFont typeface="Arial" panose="020B0604020202020204" pitchFamily="34" charset="0"/>
              <a:buChar char="•"/>
            </a:pPr>
            <a:r>
              <a:rPr lang="en-CY" sz="2400" dirty="0">
                <a:effectLst/>
                <a:latin typeface="Times New Roman" panose="02020603050405020304" pitchFamily="18" charset="0"/>
                <a:ea typeface="Calibri" panose="020F0502020204030204" pitchFamily="34" charset="0"/>
                <a:cs typeface="Times New Roman" panose="02020603050405020304" pitchFamily="18" charset="0"/>
              </a:rPr>
              <a:t>Efficient Design</a:t>
            </a:r>
            <a:r>
              <a:rPr lang="en-CY" sz="2400" dirty="0">
                <a:effectLst/>
                <a:latin typeface="Times New Roman" panose="02020603050405020304" pitchFamily="18" charset="0"/>
                <a:cs typeface="Times New Roman" panose="02020603050405020304" pitchFamily="18" charset="0"/>
              </a:rPr>
              <a:t> </a:t>
            </a:r>
            <a:endParaRPr lang="en-CY" sz="24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CY" sz="2400" dirty="0">
                <a:effectLst/>
                <a:latin typeface="Times New Roman" panose="02020603050405020304" pitchFamily="18" charset="0"/>
                <a:ea typeface="Calibri" panose="020F0502020204030204" pitchFamily="34" charset="0"/>
                <a:cs typeface="Times New Roman" panose="02020603050405020304" pitchFamily="18" charset="0"/>
              </a:rPr>
              <a:t>Redundancy and Reliability</a:t>
            </a:r>
            <a:r>
              <a:rPr lang="en-CY" sz="2400" dirty="0">
                <a:effectLst/>
                <a:latin typeface="Times New Roman" panose="02020603050405020304" pitchFamily="18" charset="0"/>
                <a:cs typeface="Times New Roman" panose="02020603050405020304" pitchFamily="18" charset="0"/>
              </a:rPr>
              <a:t> </a:t>
            </a:r>
          </a:p>
          <a:p>
            <a:pPr marL="457200" indent="-457200">
              <a:buFont typeface="Arial" panose="020B0604020202020204" pitchFamily="34" charset="0"/>
              <a:buChar char="•"/>
            </a:pPr>
            <a:r>
              <a:rPr lang="en-CY" sz="2400" dirty="0">
                <a:effectLst/>
                <a:latin typeface="Times New Roman" panose="02020603050405020304" pitchFamily="18" charset="0"/>
                <a:ea typeface="Calibri" panose="020F0502020204030204" pitchFamily="34" charset="0"/>
                <a:cs typeface="Times New Roman" panose="02020603050405020304" pitchFamily="18" charset="0"/>
              </a:rPr>
              <a:t>Low Noise</a:t>
            </a:r>
            <a:endParaRPr lang="en-CY"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3011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C271FBB-05A5-B99B-2034-873940014E32}"/>
              </a:ext>
            </a:extLst>
          </p:cNvPr>
          <p:cNvSpPr txBox="1"/>
          <p:nvPr/>
        </p:nvSpPr>
        <p:spPr>
          <a:xfrm>
            <a:off x="2689933" y="235783"/>
            <a:ext cx="7924595" cy="769441"/>
          </a:xfrm>
          <a:prstGeom prst="rect">
            <a:avLst/>
          </a:prstGeom>
          <a:noFill/>
        </p:spPr>
        <p:txBody>
          <a:bodyPr wrap="square" rtlCol="0">
            <a:spAutoFit/>
          </a:bodyPr>
          <a:lstStyle/>
          <a:p>
            <a:r>
              <a:rPr lang="en-US" sz="4400" dirty="0"/>
              <a:t>3D drawing of Quadcopter</a:t>
            </a:r>
          </a:p>
        </p:txBody>
      </p:sp>
      <p:pic>
        <p:nvPicPr>
          <p:cNvPr id="6" name="Picture 5">
            <a:extLst>
              <a:ext uri="{FF2B5EF4-FFF2-40B4-BE49-F238E27FC236}">
                <a16:creationId xmlns:a16="http://schemas.microsoft.com/office/drawing/2014/main" id="{01A8AC3D-1851-DAA9-097D-CD8236BFE5F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26651" y="1516284"/>
            <a:ext cx="7924596" cy="4386805"/>
          </a:xfrm>
          <a:prstGeom prst="rect">
            <a:avLst/>
          </a:prstGeom>
        </p:spPr>
      </p:pic>
    </p:spTree>
    <p:extLst>
      <p:ext uri="{BB962C8B-B14F-4D97-AF65-F5344CB8AC3E}">
        <p14:creationId xmlns:p14="http://schemas.microsoft.com/office/powerpoint/2010/main" val="4055364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1882C2A-5CF2-D1D2-0F98-70BF2DA102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8457" y="0"/>
            <a:ext cx="9844344" cy="6858000"/>
          </a:xfrm>
          <a:prstGeom prst="rect">
            <a:avLst/>
          </a:prstGeom>
        </p:spPr>
      </p:pic>
    </p:spTree>
    <p:extLst>
      <p:ext uri="{BB962C8B-B14F-4D97-AF65-F5344CB8AC3E}">
        <p14:creationId xmlns:p14="http://schemas.microsoft.com/office/powerpoint/2010/main" val="3285847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715A4-FA52-2344-97CF-779BFFA3E86D}"/>
              </a:ext>
            </a:extLst>
          </p:cNvPr>
          <p:cNvSpPr>
            <a:spLocks noGrp="1"/>
          </p:cNvSpPr>
          <p:nvPr>
            <p:ph type="title"/>
          </p:nvPr>
        </p:nvSpPr>
        <p:spPr>
          <a:xfrm>
            <a:off x="838200" y="-217238"/>
            <a:ext cx="10515600" cy="1325563"/>
          </a:xfrm>
        </p:spPr>
        <p:txBody>
          <a:bodyPr>
            <a:normAutofit/>
          </a:bodyPr>
          <a:lstStyle/>
          <a:p>
            <a:pPr algn="ctr"/>
            <a:r>
              <a:rPr lang="en-US" sz="4800" dirty="0">
                <a:latin typeface="Times New Roman" panose="02020603050405020304" pitchFamily="18" charset="0"/>
                <a:cs typeface="Times New Roman" panose="02020603050405020304" pitchFamily="18" charset="0"/>
              </a:rPr>
              <a:t>REFERENCES</a:t>
            </a:r>
          </a:p>
        </p:txBody>
      </p:sp>
      <p:sp>
        <p:nvSpPr>
          <p:cNvPr id="4" name="Rectangle 1">
            <a:extLst>
              <a:ext uri="{FF2B5EF4-FFF2-40B4-BE49-F238E27FC236}">
                <a16:creationId xmlns:a16="http://schemas.microsoft.com/office/drawing/2014/main" id="{A71B4B9F-07A3-9E4A-8B51-1937346C6458}"/>
              </a:ext>
            </a:extLst>
          </p:cNvPr>
          <p:cNvSpPr>
            <a:spLocks noChangeArrowheads="1"/>
          </p:cNvSpPr>
          <p:nvPr/>
        </p:nvSpPr>
        <p:spPr bwMode="auto">
          <a:xfrm>
            <a:off x="0" y="3594580"/>
            <a:ext cx="65" cy="4308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52352"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en-US" sz="18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7318FAC9-EE74-1643-97E3-1A319DDDBBB9}"/>
              </a:ext>
            </a:extLst>
          </p:cNvPr>
          <p:cNvSpPr txBox="1"/>
          <p:nvPr/>
        </p:nvSpPr>
        <p:spPr>
          <a:xfrm>
            <a:off x="2624667" y="2502428"/>
            <a:ext cx="6061873" cy="2269067"/>
          </a:xfrm>
          <a:prstGeom prst="rect">
            <a:avLst/>
          </a:prstGeom>
          <a:noFill/>
        </p:spPr>
        <p:txBody>
          <a:bodyPr wrap="square" rtlCol="0">
            <a:spAutoFit/>
          </a:bodyPr>
          <a:lstStyle/>
          <a:p>
            <a:endParaRPr lang="en-US" dirty="0"/>
          </a:p>
        </p:txBody>
      </p:sp>
      <p:sp>
        <p:nvSpPr>
          <p:cNvPr id="3" name="TextBox 2">
            <a:extLst>
              <a:ext uri="{FF2B5EF4-FFF2-40B4-BE49-F238E27FC236}">
                <a16:creationId xmlns:a16="http://schemas.microsoft.com/office/drawing/2014/main" id="{F001FE92-53E1-71CA-169E-F002316E364A}"/>
              </a:ext>
            </a:extLst>
          </p:cNvPr>
          <p:cNvSpPr txBox="1"/>
          <p:nvPr/>
        </p:nvSpPr>
        <p:spPr>
          <a:xfrm>
            <a:off x="1759352" y="3044142"/>
            <a:ext cx="184731" cy="369332"/>
          </a:xfrm>
          <a:prstGeom prst="rect">
            <a:avLst/>
          </a:prstGeom>
          <a:noFill/>
        </p:spPr>
        <p:txBody>
          <a:bodyPr wrap="none" rtlCol="0">
            <a:spAutoFit/>
          </a:bodyPr>
          <a:lstStyle/>
          <a:p>
            <a:endParaRPr lang="en-CY"/>
          </a:p>
        </p:txBody>
      </p:sp>
      <p:sp>
        <p:nvSpPr>
          <p:cNvPr id="10" name="TextBox 9">
            <a:extLst>
              <a:ext uri="{FF2B5EF4-FFF2-40B4-BE49-F238E27FC236}">
                <a16:creationId xmlns:a16="http://schemas.microsoft.com/office/drawing/2014/main" id="{C0574440-88E3-F9B2-48A5-6A6D08D750F9}"/>
              </a:ext>
            </a:extLst>
          </p:cNvPr>
          <p:cNvSpPr txBox="1"/>
          <p:nvPr/>
        </p:nvSpPr>
        <p:spPr>
          <a:xfrm>
            <a:off x="144570" y="941978"/>
            <a:ext cx="12047429" cy="3550780"/>
          </a:xfrm>
          <a:prstGeom prst="rect">
            <a:avLst/>
          </a:prstGeom>
          <a:noFill/>
        </p:spPr>
        <p:txBody>
          <a:bodyPr wrap="square">
            <a:spAutoFit/>
          </a:bodyPr>
          <a:lstStyle/>
          <a:p>
            <a:pPr marL="457200" marR="47625" indent="-457200">
              <a:lnSpc>
                <a:spcPts val="2750"/>
              </a:lnSpc>
            </a:pPr>
            <a:r>
              <a:rPr lang="en-US" i="1" dirty="0">
                <a:solidFill>
                  <a:srgbClr val="000000"/>
                </a:solidFill>
                <a:effectLst/>
                <a:latin typeface="Calibri" panose="020F0502020204030204" pitchFamily="34" charset="0"/>
                <a:ea typeface="Times New Roman" panose="02020603050405020304" pitchFamily="18" charset="0"/>
              </a:rPr>
              <a:t>1.</a:t>
            </a:r>
            <a:r>
              <a:rPr lang="en-CY" i="1" dirty="0">
                <a:solidFill>
                  <a:srgbClr val="000000"/>
                </a:solidFill>
                <a:effectLst/>
                <a:latin typeface="Calibri" panose="020F0502020204030204" pitchFamily="34" charset="0"/>
                <a:ea typeface="Times New Roman" panose="02020603050405020304" pitchFamily="18" charset="0"/>
              </a:rPr>
              <a:t>DJI matrice 600 pro - DJI</a:t>
            </a:r>
            <a:r>
              <a:rPr lang="en-CY" dirty="0">
                <a:solidFill>
                  <a:srgbClr val="000000"/>
                </a:solidFill>
                <a:effectLst/>
                <a:latin typeface="Calibri" panose="020F0502020204030204" pitchFamily="34" charset="0"/>
                <a:ea typeface="Times New Roman" panose="02020603050405020304" pitchFamily="18" charset="0"/>
              </a:rPr>
              <a:t>. (2017, April 18). DJI Official. </a:t>
            </a:r>
            <a:r>
              <a:rPr lang="en-CY" u="sng" dirty="0">
                <a:solidFill>
                  <a:srgbClr val="000000"/>
                </a:solidFill>
                <a:effectLst/>
                <a:latin typeface="inherit"/>
                <a:ea typeface="Times New Roman" panose="02020603050405020304" pitchFamily="18" charset="0"/>
                <a:cs typeface="Calibri" panose="020F0502020204030204" pitchFamily="34" charset="0"/>
                <a:hlinkClick r:id="rId2"/>
              </a:rPr>
              <a:t>https://www.dji.com/matrice600-pro</a:t>
            </a:r>
            <a:endParaRPr lang="en-CY" dirty="0">
              <a:effectLst/>
              <a:latin typeface="Times New Roman" panose="02020603050405020304" pitchFamily="18" charset="0"/>
              <a:ea typeface="Times New Roman" panose="02020603050405020304" pitchFamily="18" charset="0"/>
            </a:endParaRPr>
          </a:p>
          <a:p>
            <a:pPr marL="457200" marR="47625" indent="-457200">
              <a:lnSpc>
                <a:spcPts val="2750"/>
              </a:lnSpc>
            </a:pPr>
            <a:r>
              <a:rPr lang="en-US" i="1" dirty="0">
                <a:solidFill>
                  <a:srgbClr val="000000"/>
                </a:solidFill>
                <a:latin typeface="Calibri" panose="020F0502020204030204" pitchFamily="34" charset="0"/>
                <a:ea typeface="Times New Roman" panose="02020603050405020304" pitchFamily="18" charset="0"/>
              </a:rPr>
              <a:t>2</a:t>
            </a:r>
            <a:r>
              <a:rPr lang="en-US" i="1" dirty="0">
                <a:solidFill>
                  <a:srgbClr val="000000"/>
                </a:solidFill>
                <a:effectLst/>
                <a:latin typeface="Calibri" panose="020F0502020204030204" pitchFamily="34" charset="0"/>
                <a:ea typeface="Times New Roman" panose="02020603050405020304" pitchFamily="18" charset="0"/>
              </a:rPr>
              <a:t>.</a:t>
            </a:r>
            <a:r>
              <a:rPr lang="en-CY" i="1" dirty="0">
                <a:solidFill>
                  <a:srgbClr val="000000"/>
                </a:solidFill>
                <a:effectLst/>
                <a:latin typeface="Calibri" panose="020F0502020204030204" pitchFamily="34" charset="0"/>
                <a:ea typeface="Times New Roman" panose="02020603050405020304" pitchFamily="18" charset="0"/>
              </a:rPr>
              <a:t>Specs</a:t>
            </a:r>
            <a:r>
              <a:rPr lang="en-CY" dirty="0">
                <a:solidFill>
                  <a:srgbClr val="000000"/>
                </a:solidFill>
                <a:effectLst/>
                <a:latin typeface="Calibri" panose="020F0502020204030204" pitchFamily="34" charset="0"/>
                <a:ea typeface="Times New Roman" panose="02020603050405020304" pitchFamily="18" charset="0"/>
              </a:rPr>
              <a:t>. (n.d.). DJI. </a:t>
            </a:r>
            <a:r>
              <a:rPr lang="en-CY" u="sng" dirty="0">
                <a:solidFill>
                  <a:srgbClr val="000000"/>
                </a:solidFill>
                <a:effectLst/>
                <a:latin typeface="inherit"/>
                <a:ea typeface="Times New Roman" panose="02020603050405020304" pitchFamily="18" charset="0"/>
                <a:cs typeface="Calibri" panose="020F0502020204030204" pitchFamily="34" charset="0"/>
                <a:hlinkClick r:id="rId3"/>
              </a:rPr>
              <a:t>https://enterprise.dji.com/matrice-300/specs</a:t>
            </a:r>
            <a:endParaRPr lang="en-CY" dirty="0">
              <a:effectLst/>
              <a:latin typeface="Times New Roman" panose="02020603050405020304" pitchFamily="18" charset="0"/>
              <a:ea typeface="Times New Roman" panose="02020603050405020304" pitchFamily="18" charset="0"/>
            </a:endParaRPr>
          </a:p>
          <a:p>
            <a:pPr marL="457200" marR="47625" indent="-457200">
              <a:lnSpc>
                <a:spcPts val="2750"/>
              </a:lnSpc>
            </a:pPr>
            <a:r>
              <a:rPr lang="en-US" sz="2000" dirty="0">
                <a:solidFill>
                  <a:srgbClr val="000000"/>
                </a:solidFill>
                <a:effectLst/>
                <a:latin typeface="Calibri" panose="020F0502020204030204" pitchFamily="34" charset="0"/>
                <a:ea typeface="Times New Roman" panose="02020603050405020304" pitchFamily="18" charset="0"/>
              </a:rPr>
              <a:t>3. </a:t>
            </a:r>
            <a:r>
              <a:rPr lang="en-CY" sz="2000" dirty="0">
                <a:solidFill>
                  <a:srgbClr val="000000"/>
                </a:solidFill>
                <a:effectLst/>
                <a:latin typeface="Calibri" panose="020F0502020204030204" pitchFamily="34" charset="0"/>
                <a:ea typeface="Times New Roman" panose="02020603050405020304" pitchFamily="18" charset="0"/>
              </a:rPr>
              <a:t>(n.d.). You are being redirected... </a:t>
            </a:r>
            <a:r>
              <a:rPr lang="en-CY" sz="2000" u="sng" dirty="0">
                <a:solidFill>
                  <a:srgbClr val="000000"/>
                </a:solidFill>
                <a:effectLst/>
                <a:latin typeface="inherit"/>
                <a:ea typeface="Times New Roman" panose="02020603050405020304" pitchFamily="18" charset="0"/>
                <a:cs typeface="Calibri" panose="020F0502020204030204" pitchFamily="34" charset="0"/>
                <a:hlinkClick r:id="rId4"/>
              </a:rPr>
              <a:t>https://elbitsystems.com/media/LegionX_THOR-2-Web.pdf</a:t>
            </a:r>
            <a:endParaRPr lang="en-CY" sz="2000" u="sng" dirty="0">
              <a:solidFill>
                <a:srgbClr val="000000"/>
              </a:solidFill>
              <a:effectLst/>
              <a:latin typeface="inherit"/>
              <a:ea typeface="Times New Roman" panose="02020603050405020304" pitchFamily="18" charset="0"/>
              <a:cs typeface="Calibri" panose="020F0502020204030204" pitchFamily="34" charset="0"/>
            </a:endParaRPr>
          </a:p>
          <a:p>
            <a:pPr marL="457200" marR="47625" indent="-457200">
              <a:lnSpc>
                <a:spcPts val="2750"/>
              </a:lnSpc>
            </a:pPr>
            <a:r>
              <a:rPr lang="en-US" sz="2000" i="1" dirty="0">
                <a:solidFill>
                  <a:srgbClr val="000000"/>
                </a:solidFill>
                <a:latin typeface="Calibri" panose="020F0502020204030204" pitchFamily="34" charset="0"/>
                <a:ea typeface="Times New Roman" panose="02020603050405020304" pitchFamily="18" charset="0"/>
              </a:rPr>
              <a:t>4</a:t>
            </a:r>
            <a:r>
              <a:rPr lang="en-US" sz="2000" i="1" dirty="0">
                <a:solidFill>
                  <a:srgbClr val="000000"/>
                </a:solidFill>
                <a:effectLst/>
                <a:latin typeface="Calibri" panose="020F0502020204030204" pitchFamily="34" charset="0"/>
                <a:ea typeface="Times New Roman" panose="02020603050405020304" pitchFamily="18" charset="0"/>
              </a:rPr>
              <a:t>.</a:t>
            </a:r>
            <a:r>
              <a:rPr lang="en-CY" sz="2000" i="1" dirty="0">
                <a:solidFill>
                  <a:srgbClr val="000000"/>
                </a:solidFill>
                <a:effectLst/>
                <a:latin typeface="Calibri" panose="020F0502020204030204" pitchFamily="34" charset="0"/>
                <a:ea typeface="Times New Roman" panose="02020603050405020304" pitchFamily="18" charset="0"/>
              </a:rPr>
              <a:t>X6L-15-Shenzhen Keweitai enterprise development CO.,LTD</a:t>
            </a:r>
            <a:r>
              <a:rPr lang="en-CY" sz="2000" dirty="0">
                <a:solidFill>
                  <a:srgbClr val="000000"/>
                </a:solidFill>
                <a:effectLst/>
                <a:latin typeface="Calibri" panose="020F0502020204030204" pitchFamily="34" charset="0"/>
                <a:ea typeface="Times New Roman" panose="02020603050405020304" pitchFamily="18" charset="0"/>
              </a:rPr>
              <a:t>. (n.d.). Shenzhen Keweitai Enterprise Development CO.,LTD. </a:t>
            </a:r>
            <a:r>
              <a:rPr lang="en-CY" sz="2000" u="sng" dirty="0">
                <a:solidFill>
                  <a:srgbClr val="000000"/>
                </a:solidFill>
                <a:effectLst/>
                <a:latin typeface="inherit"/>
                <a:ea typeface="Times New Roman" panose="02020603050405020304" pitchFamily="18" charset="0"/>
                <a:cs typeface="Calibri" panose="020F0502020204030204" pitchFamily="34" charset="0"/>
                <a:hlinkClick r:id="rId5"/>
              </a:rPr>
              <a:t>https://www.alltechuav.com/x6l15</a:t>
            </a:r>
            <a:endParaRPr lang="en-CY" sz="2000" dirty="0">
              <a:effectLst/>
              <a:latin typeface="Times New Roman" panose="02020603050405020304" pitchFamily="18" charset="0"/>
              <a:ea typeface="Times New Roman" panose="02020603050405020304" pitchFamily="18" charset="0"/>
            </a:endParaRPr>
          </a:p>
          <a:p>
            <a:pPr marL="457200" marR="47625" indent="-457200">
              <a:lnSpc>
                <a:spcPts val="2750"/>
              </a:lnSpc>
            </a:pPr>
            <a:r>
              <a:rPr lang="en-CY" sz="2000" dirty="0">
                <a:solidFill>
                  <a:srgbClr val="000000"/>
                </a:solidFill>
                <a:effectLst/>
                <a:latin typeface="Calibri" panose="020F0502020204030204" pitchFamily="34" charset="0"/>
                <a:ea typeface="Times New Roman" panose="02020603050405020304" pitchFamily="18" charset="0"/>
              </a:rPr>
              <a:t>5.Robotics, T. (2022, 1). </a:t>
            </a:r>
            <a:r>
              <a:rPr lang="en-CY" sz="2000" i="1" dirty="0">
                <a:solidFill>
                  <a:srgbClr val="000000"/>
                </a:solidFill>
                <a:effectLst/>
                <a:latin typeface="Calibri" panose="020F0502020204030204" pitchFamily="34" charset="0"/>
                <a:ea typeface="Times New Roman" panose="02020603050405020304" pitchFamily="18" charset="0"/>
              </a:rPr>
              <a:t>What is an electronic speed controller &amp; how does an ESC work</a:t>
            </a:r>
            <a:r>
              <a:rPr lang="en-CY" sz="2000" dirty="0">
                <a:solidFill>
                  <a:srgbClr val="000000"/>
                </a:solidFill>
                <a:effectLst/>
                <a:latin typeface="Calibri" panose="020F0502020204030204" pitchFamily="34" charset="0"/>
                <a:ea typeface="Times New Roman" panose="02020603050405020304" pitchFamily="18" charset="0"/>
              </a:rPr>
              <a:t>. Tyto Robotics. </a:t>
            </a:r>
            <a:r>
              <a:rPr lang="en-CY" sz="2000" u="sng" dirty="0">
                <a:solidFill>
                  <a:srgbClr val="000000"/>
                </a:solidFill>
                <a:effectLst/>
                <a:latin typeface="Calibri" panose="020F0502020204030204" pitchFamily="34" charset="0"/>
                <a:ea typeface="Times New Roman" panose="02020603050405020304" pitchFamily="18" charset="0"/>
                <a:hlinkClick r:id="rId6"/>
              </a:rPr>
              <a:t>https://www.tytorobotics.com/blogs/articles/what-is-an-esc-how-does-an-esc-work</a:t>
            </a:r>
            <a:endParaRPr lang="en-CY" sz="2000" u="sng" dirty="0">
              <a:solidFill>
                <a:srgbClr val="000000"/>
              </a:solidFill>
              <a:effectLst/>
              <a:latin typeface="Calibri" panose="020F0502020204030204" pitchFamily="34" charset="0"/>
              <a:ea typeface="Times New Roman" panose="02020603050405020304" pitchFamily="18" charset="0"/>
            </a:endParaRPr>
          </a:p>
          <a:p>
            <a:pPr>
              <a:tabLst>
                <a:tab pos="3988435" algn="l"/>
              </a:tabLst>
            </a:pPr>
            <a:r>
              <a:rPr lang="en-US" sz="2000" dirty="0">
                <a:solidFill>
                  <a:srgbClr val="000000"/>
                </a:solidFill>
                <a:latin typeface="Times New Roman" panose="02020603050405020304" pitchFamily="18" charset="0"/>
                <a:ea typeface="Times New Roman" panose="02020603050405020304" pitchFamily="18" charset="0"/>
              </a:rPr>
              <a:t>6.</a:t>
            </a:r>
            <a:r>
              <a:rPr lang="en-CY" sz="2000" i="1" dirty="0">
                <a:solidFill>
                  <a:srgbClr val="000000"/>
                </a:solidFill>
                <a:effectLst/>
                <a:latin typeface="Calibri" panose="020F0502020204030204" pitchFamily="34" charset="0"/>
                <a:ea typeface="Times New Roman" panose="02020603050405020304" pitchFamily="18" charset="0"/>
              </a:rPr>
              <a:t>How high can a drone fly</a:t>
            </a:r>
            <a:r>
              <a:rPr lang="en-CY" sz="2000" dirty="0">
                <a:solidFill>
                  <a:srgbClr val="000000"/>
                </a:solidFill>
                <a:effectLst/>
                <a:latin typeface="Calibri" panose="020F0502020204030204" pitchFamily="34" charset="0"/>
                <a:ea typeface="Times New Roman" panose="02020603050405020304" pitchFamily="18" charset="0"/>
              </a:rPr>
              <a:t>. (2022, December 10). Drones Survey Services. </a:t>
            </a:r>
            <a:r>
              <a:rPr lang="en-CY" sz="2000" u="sng" dirty="0">
                <a:solidFill>
                  <a:srgbClr val="000000"/>
                </a:solidFill>
                <a:effectLst/>
                <a:latin typeface="Calibri" panose="020F0502020204030204" pitchFamily="34" charset="0"/>
                <a:ea typeface="Times New Roman" panose="02020603050405020304" pitchFamily="18" charset="0"/>
                <a:hlinkClick r:id="rId7"/>
              </a:rPr>
              <a:t>https://dronesurveyservices.com/how-high-can-a-drone-fly/</a:t>
            </a:r>
            <a:endParaRPr lang="en-CY" sz="2000" dirty="0">
              <a:effectLst/>
              <a:latin typeface="Times New Roman" panose="02020603050405020304" pitchFamily="18" charset="0"/>
              <a:ea typeface="Times New Roman" panose="02020603050405020304" pitchFamily="18" charset="0"/>
            </a:endParaRPr>
          </a:p>
          <a:p>
            <a:pPr marL="457200" marR="47625" indent="-457200">
              <a:lnSpc>
                <a:spcPts val="2750"/>
              </a:lnSpc>
            </a:pPr>
            <a:endParaRPr lang="en-CY"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0453274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0B2B5-B968-4041-989E-C4307CD3764B}"/>
              </a:ext>
            </a:extLst>
          </p:cNvPr>
          <p:cNvSpPr>
            <a:spLocks noGrp="1"/>
          </p:cNvSpPr>
          <p:nvPr>
            <p:ph type="title"/>
          </p:nvPr>
        </p:nvSpPr>
        <p:spPr>
          <a:xfrm>
            <a:off x="1330518" y="2231313"/>
            <a:ext cx="5386661" cy="3441334"/>
          </a:xfrm>
        </p:spPr>
        <p:txBody>
          <a:bodyPr vert="horz" lIns="91440" tIns="45720" rIns="91440" bIns="45720" rtlCol="0" anchor="ctr">
            <a:normAutofit/>
          </a:bodyPr>
          <a:lstStyle/>
          <a:p>
            <a:r>
              <a:rPr lang="en-US" sz="3400" b="1" kern="1200" dirty="0">
                <a:latin typeface="Times New Roman" panose="02020603050405020304" pitchFamily="18" charset="0"/>
                <a:cs typeface="Times New Roman" panose="02020603050405020304" pitchFamily="18" charset="0"/>
              </a:rPr>
              <a:t>THANK YOU!</a:t>
            </a:r>
            <a:br>
              <a:rPr lang="en-US" sz="3400" b="1" kern="1200" dirty="0">
                <a:latin typeface="Times New Roman" panose="02020603050405020304" pitchFamily="18" charset="0"/>
                <a:cs typeface="Times New Roman" panose="02020603050405020304" pitchFamily="18" charset="0"/>
              </a:rPr>
            </a:br>
            <a:br>
              <a:rPr lang="en-US" sz="3400" b="1" kern="1200" dirty="0">
                <a:latin typeface="Times New Roman" panose="02020603050405020304" pitchFamily="18" charset="0"/>
                <a:cs typeface="Times New Roman" panose="02020603050405020304" pitchFamily="18" charset="0"/>
              </a:rPr>
            </a:br>
            <a:r>
              <a:rPr lang="en-US" sz="3400" b="1" kern="1200" dirty="0">
                <a:latin typeface="Times New Roman" panose="02020603050405020304" pitchFamily="18" charset="0"/>
                <a:cs typeface="Times New Roman" panose="02020603050405020304" pitchFamily="18" charset="0"/>
              </a:rPr>
              <a:t>IF YOU HAVE ANY QUESTIONS, FEEL FREE TO ASK THEM.</a:t>
            </a:r>
          </a:p>
        </p:txBody>
      </p:sp>
      <p:pic>
        <p:nvPicPr>
          <p:cNvPr id="6" name="Graphic 5" descr="Sorular">
            <a:extLst>
              <a:ext uri="{FF2B5EF4-FFF2-40B4-BE49-F238E27FC236}">
                <a16:creationId xmlns:a16="http://schemas.microsoft.com/office/drawing/2014/main" id="{2823CA4D-6971-81B1-84B9-5288F3AFA1C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998031" y="984355"/>
            <a:ext cx="2673827" cy="2967625"/>
          </a:xfrm>
          <a:prstGeom prst="rect">
            <a:avLst/>
          </a:prstGeom>
        </p:spPr>
      </p:pic>
    </p:spTree>
    <p:extLst>
      <p:ext uri="{BB962C8B-B14F-4D97-AF65-F5344CB8AC3E}">
        <p14:creationId xmlns:p14="http://schemas.microsoft.com/office/powerpoint/2010/main" val="158172137"/>
      </p:ext>
    </p:extLst>
  </p:cSld>
  <p:clrMapOvr>
    <a:masterClrMapping/>
  </p:clrMapOvr>
</p:sld>
</file>

<file path=ppt/theme/theme1.xml><?xml version="1.0" encoding="utf-8"?>
<a:theme xmlns:a="http://schemas.openxmlformats.org/drawingml/2006/main" name="BrushVTI">
  <a:themeElements>
    <a:clrScheme name="AnalogousFromDarkSeedLeftStep">
      <a:dk1>
        <a:srgbClr val="000000"/>
      </a:dk1>
      <a:lt1>
        <a:srgbClr val="FFFFFF"/>
      </a:lt1>
      <a:dk2>
        <a:srgbClr val="1C2732"/>
      </a:dk2>
      <a:lt2>
        <a:srgbClr val="F0F3F1"/>
      </a:lt2>
      <a:accent1>
        <a:srgbClr val="C34DAD"/>
      </a:accent1>
      <a:accent2>
        <a:srgbClr val="973BB1"/>
      </a:accent2>
      <a:accent3>
        <a:srgbClr val="774DC3"/>
      </a:accent3>
      <a:accent4>
        <a:srgbClr val="4148B4"/>
      </a:accent4>
      <a:accent5>
        <a:srgbClr val="4D85C3"/>
      </a:accent5>
      <a:accent6>
        <a:srgbClr val="3BA5B1"/>
      </a:accent6>
      <a:hlink>
        <a:srgbClr val="3F67BF"/>
      </a:hlink>
      <a:folHlink>
        <a:srgbClr val="7F7F7F"/>
      </a:folHlink>
    </a:clrScheme>
    <a:fontScheme name="Custom 3">
      <a:majorFont>
        <a:latin typeface="Elephant"/>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VTI" id="{7102FA3A-9D7B-4497-8C4B-FB535AAFDE06}" vid="{C6D41F62-6FAB-440A-BEC7-CB7BF190811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4608</TotalTime>
  <Words>825</Words>
  <Application>Microsoft Macintosh PowerPoint</Application>
  <PresentationFormat>Widescreen</PresentationFormat>
  <Paragraphs>166</Paragraphs>
  <Slides>12</Slides>
  <Notes>3</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12</vt:i4>
      </vt:variant>
    </vt:vector>
  </HeadingPairs>
  <TitlesOfParts>
    <vt:vector size="27" baseType="lpstr">
      <vt:lpstr>Arial</vt:lpstr>
      <vt:lpstr>Calibri</vt:lpstr>
      <vt:lpstr>Calibri Light</vt:lpstr>
      <vt:lpstr>Cambria Math</vt:lpstr>
      <vt:lpstr>CambriaMath</vt:lpstr>
      <vt:lpstr>Century Gothic</vt:lpstr>
      <vt:lpstr>Elephant</vt:lpstr>
      <vt:lpstr>Helvetica Neue</vt:lpstr>
      <vt:lpstr>inherit</vt:lpstr>
      <vt:lpstr>Symbol</vt:lpstr>
      <vt:lpstr>Times New Roman</vt:lpstr>
      <vt:lpstr>TimesNewRomanPS</vt:lpstr>
      <vt:lpstr>TimesNewRomanPSMT</vt:lpstr>
      <vt:lpstr>BrushVTI</vt:lpstr>
      <vt:lpstr>Office Theme</vt:lpstr>
      <vt:lpstr>PowerPoint Presentation</vt:lpstr>
      <vt:lpstr>Outline</vt:lpstr>
      <vt:lpstr> Requirements</vt:lpstr>
      <vt:lpstr>PowerPoint Presentation</vt:lpstr>
      <vt:lpstr>PowerPoint Presentation</vt:lpstr>
      <vt:lpstr>PowerPoint Presentation</vt:lpstr>
      <vt:lpstr>Technical Drawing of Quadcopter</vt:lpstr>
      <vt:lpstr>PowerPoint Presentation</vt:lpstr>
      <vt:lpstr>PowerPoint Presentation</vt:lpstr>
      <vt:lpstr>PowerPoint Presentation</vt:lpstr>
      <vt:lpstr>REFERENCES</vt:lpstr>
      <vt:lpstr>THANK YOU!  IF YOU HAVE ANY QUESTIONS, FEEL FREE TO ASK THEM.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Süleyman Aylar</dc:creator>
  <cp:lastModifiedBy>Microsoft Office User</cp:lastModifiedBy>
  <cp:revision>97</cp:revision>
  <dcterms:created xsi:type="dcterms:W3CDTF">2021-06-19T15:43:23Z</dcterms:created>
  <dcterms:modified xsi:type="dcterms:W3CDTF">2023-11-02T07:23:03Z</dcterms:modified>
</cp:coreProperties>
</file>